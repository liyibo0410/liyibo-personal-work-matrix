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tableStyles" Target="tableStyles.xml"/><Relationship Id="rId1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各位领导好，我是李奕波，今天汇报的是我们交付的"AI 电商运营助手"。</a:t>
            </a:r>
          </a:p>
          <a:p>
            <a:pPr/>
            <a:r>
              <a:rPr lang="zh-CN"/>
              <a:t>先说清楚它要解决的问题。电商运营每天要重复做六件事：商品诊断、竞品分析、创意策划、图片视频生成、库存建议、经营复盘。这六件事有一个共同点——都要先看数据，再靠经验判断，最后手工产出内容。做一次不难，天天做就很重。</a:t>
            </a:r>
          </a:p>
          <a:p>
            <a:pPr/>
            <a:r>
              <a:rPr lang="zh-CN"/>
              <a:t>所以我没有做一个"能聊天的机器人"，而是做了一条完整的运营链路：数据进来，模型生成草稿，进入媒体任务，再由多个 Agent 分工协作，最后由人来审批，通过之后才写进业务系统。</a:t>
            </a:r>
          </a:p>
          <a:p>
            <a:pPr/>
            <a:r>
              <a:rPr lang="zh-CN"/>
              <a:t>这条链路上每一步都能验收、能追溯、能恢复。接下来我用十分钟，把技术选型、三项可控性设计、以及可复现的验收结果汇报清楚。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我按五段来汇报。</a:t>
            </a:r>
          </a:p>
          <a:p>
            <a:pPr/>
            <a:r>
              <a:rPr lang="zh-CN"/>
              <a:t>第一段讲痛点与目标，说明为什么这六类动作需要系统化，而不是再做一堆单点的 AI 工具。</a:t>
            </a:r>
          </a:p>
          <a:p>
            <a:pPr/>
            <a:r>
              <a:rPr lang="zh-CN"/>
              <a:t>第二段讲技术栈与架构。这里想强调的不是用了多少框架，而是分层的衔接方式——尤其是鉴权和租户隔离收口在哪一层，这直接决定了数据安不安全。</a:t>
            </a:r>
          </a:p>
          <a:p>
            <a:pPr/>
            <a:r>
              <a:rPr lang="zh-CN"/>
              <a:t>第三段是今天最重要的部分，三项可控性设计：模型不能直接碰数据库的受控工具网关、人工审批加断点恢复、以及重复消息下的可靠执行。这三个点决定了这套系统能不能真的上生产。</a:t>
            </a:r>
          </a:p>
          <a:p>
            <a:pPr/>
            <a:r>
              <a:rPr lang="zh-CN"/>
              <a:t>第四段讲验收。我们把验收写成可执行的脚本，五十八项用例分九组，结论由退出码给出，不靠主观判断，你们也可以自己跑一遍复核。</a:t>
            </a:r>
          </a:p>
          <a:p>
            <a:pPr/>
            <a:r>
              <a:rPr lang="zh-CN"/>
              <a:t>第五段是交付边界和后续规划。哪些已经交付、哪些需要配合、哪些建议后续再补，我都会讲清楚。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左边这六格，就是电商运营每天真正在重复的事。</a:t>
            </a:r>
          </a:p>
          <a:p>
            <a:pPr/>
            <a:r>
              <a:rPr lang="zh-CN"/>
              <a:t>我举个具体场景。一个新品要上架，运营要先看自己商品的资料做诊断，再去看竞品在卖什么卖点、卖什么价，然后策划主图方向、写视频脚本，图要走供应商生成，回来还要判断库存够不够、要不要补货，一个周期结束还要做经营复盘。</a:t>
            </a:r>
          </a:p>
          <a:p>
            <a:pPr/>
            <a:r>
              <a:rPr lang="zh-CN"/>
              <a:t>问题有三个。</a:t>
            </a:r>
          </a:p>
          <a:p>
            <a:pPr/>
            <a:r>
              <a:rPr lang="zh-CN"/>
              <a:t>第一，这些动作是串行的，但工具是散的，数据在平台后台，结论在人的脑子里，产出在设计软件里，中间全靠人工搬运。</a:t>
            </a:r>
          </a:p>
          <a:p>
            <a:pPr/>
            <a:r>
              <a:rPr lang="zh-CN"/>
              <a:t>第二，AI 生成的内容不能直接信，更不能直接写进系统。模型可能编造卖点、可能踩合规红线，所以必须有人在中间把关。</a:t>
            </a:r>
          </a:p>
          <a:p>
            <a:pPr/>
            <a:r>
              <a:rPr lang="zh-CN"/>
              <a:t>第三，也是最容易被忽略的——人是要下班的。审批可能隔天才点，如果中间状态丢了，就得整个重跑一遍模型，成本和时间都浪费。</a:t>
            </a:r>
          </a:p>
          <a:p>
            <a:pPr/>
            <a:r>
              <a:rPr lang="zh-CN"/>
              <a:t>所以我的目标不是"让 AI 替人写文案"，而是让 AI 把草稿做到八十分，把人的工作从"从零产出"变成"审核与微调"，同时保证系统层面的可控。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这张图是分层的骨架。我从上往下讲。</a:t>
            </a:r>
          </a:p>
          <a:p>
            <a:pPr/>
            <a:r>
              <a:rPr lang="zh-CN"/>
              <a:t>最上面是前端工作台，Next.js 写的，本次没有重写，只做联调和视觉统一。它调用的接口统一挂在一个前缀下，所有文档都在一个入口。</a:t>
            </a:r>
          </a:p>
          <a:p>
            <a:pPr/>
            <a:r>
              <a:rPr lang="zh-CN"/>
              <a:t>第二层是接口层，十一个路由模块，职责是收参数、做鉴权、返回结构化结果。这里有个关键设计：鉴权、租户隔离、权限判断全部收口在依赖层。也就是说，路由和服务代码里不会去信任请求体里传进来的工作区编号，工作区是从登录用户的成员关系里解析出来的。这样越权从结构上就不成立。</a:t>
            </a:r>
          </a:p>
          <a:p>
            <a:pPr/>
            <a:r>
              <a:rPr lang="zh-CN"/>
              <a:t>第三层是领域服务层，三十四个服务模块，业务规则和事务都在这层，路由里不写业务逻辑。</a:t>
            </a:r>
          </a:p>
          <a:p>
            <a:pPr/>
            <a:r>
              <a:rPr lang="zh-CN"/>
              <a:t>第四层是数据和持久化。业务库生产用 MySQL，本地开发和自动化测试用 SQLite，模型定义做了兼容，所以同一套代码两边都能跑。Agent 的检查点单独放在 PostgreSQL。</a:t>
            </a:r>
          </a:p>
          <a:p>
            <a:pPr/>
            <a:r>
              <a:rPr lang="zh-CN"/>
              <a:t>最下面是异步与编排层：Celery 加 Redis 负责异步任务，LangGraph 负责多 Agent 的图编排。本地可以把队列切成"进程内同步执行"，这样没有 Redis 也能把功能链路跑通，这是我把项目做到"任何机器都能复现"的前提。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我想专门花一页讲一次请求是怎么走的，因为这里最能体现工程判断。</a:t>
            </a:r>
          </a:p>
          <a:p>
            <a:pPr/>
            <a:r>
              <a:rPr lang="zh-CN"/>
              <a:t>请求进来先过跨域中间件，然后进入路由依赖。依赖里做三件事。</a:t>
            </a:r>
          </a:p>
          <a:p>
            <a:pPr/>
            <a:r>
              <a:rPr lang="zh-CN"/>
              <a:t>第一，解析登录凭证，把令牌换成用户对象，而且每次请求都重新校验账号是否仍然可用——不能因为令牌还没过期，就放过一个已经被停用的账号。</a:t>
            </a:r>
          </a:p>
          <a:p>
            <a:pPr/>
            <a:r>
              <a:rPr lang="zh-CN"/>
              <a:t>第二，解析租户。注意，工作区编号不是从请求体里读的，而是从用户的成员关系里推出来的。这一步是关键：如果信任请求体，那攻击者改一个数字就能看到别人的数据。</a:t>
            </a:r>
          </a:p>
          <a:p>
            <a:pPr/>
            <a:r>
              <a:rPr lang="zh-CN"/>
              <a:t>第三，做权限判断。角色分三档，只读、操作、拥有者，全局拥有者另外管用户。</a:t>
            </a:r>
          </a:p>
          <a:p>
            <a:pPr/>
            <a:r>
              <a:rPr lang="zh-CN"/>
              <a:t>三件事做完，才进入服务层。服务层里跑事务和业务规则，然后走数据访问层落库。</a:t>
            </a:r>
          </a:p>
          <a:p>
            <a:pPr/>
            <a:r>
              <a:rPr lang="zh-CN"/>
              <a:t>我把这个顺序强调出来，是因为验收里专门有两项在打这里：跨工作区路径不一致返回 403，跨租户的商品上下文返回 422。这两项不是补丁，是结构上就该成立的结果。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第一项可控性设计：怎么保证模型不去乱动数据。</a:t>
            </a:r>
          </a:p>
          <a:p>
            <a:pPr/>
            <a:r>
              <a:rPr lang="zh-CN"/>
              <a:t>大模型有个天然倾向——你给它一个目标，它会想办法完成，包括去访问它不该访问的数据。如果让模型直接连着数据库，那它生成什么查询、写到哪张表，你都控制不了。</a:t>
            </a:r>
          </a:p>
          <a:p>
            <a:pPr/>
            <a:r>
              <a:rPr lang="zh-CN"/>
              <a:t>我的做法是加一个受控工具网关。模型能看到的不是数据库，而是一份工具清单。每个 Agent 有自己明确的白名单，白名单之外的工具调用直接拒绝。</a:t>
            </a:r>
          </a:p>
          <a:p>
            <a:pPr/>
            <a:r>
              <a:rPr lang="zh-CN"/>
              <a:t>举个具体例子。库存运营 Agent 的白名单里允许读取商品、读取店铺、读取库存、生成库存建议草稿，以及一个叫"库存调整"的工具。但前面几个都是只读或草稿级别，风险等级低；只有"库存调整"会真正写流水，所以它被标成最高风险等级，而且限定只有拥有者能触发。</a:t>
            </a:r>
          </a:p>
          <a:p>
            <a:pPr/>
            <a:r>
              <a:rPr lang="zh-CN"/>
              <a:t>还有一层是脱敏。密钥、令牌这类字段在进入模型上下文之前会被替换掉，截图和日志里也不会出现。</a:t>
            </a:r>
          </a:p>
          <a:p>
            <a:pPr/>
            <a:r>
              <a:rPr lang="zh-CN"/>
              <a:t>右边这段就是白名单的实际形态。我想强调的是：**这不是提示词层面的约束，是代码层面的拒绝**。提示词可以被绕过，策略拒绝不会。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第二项可控性设计，也是这套系统最有价值的部分：人工审批和断点恢复。</a:t>
            </a:r>
          </a:p>
          <a:p>
            <a:pPr/>
            <a:r>
              <a:rPr lang="zh-CN"/>
              <a:t>一般的做法是，模型生成完，弹个窗问用户"要不要采纳"，用户点了才继续。问题是这个"等一下"是挂在内存里的。用户去开个会、过个夜，进程一重启或者超时，这条流程就没了，只能从头再跑一遍模型，时间成本和调用成本都浪费。</a:t>
            </a:r>
          </a:p>
          <a:p>
            <a:pPr/>
            <a:r>
              <a:rPr lang="zh-CN"/>
              <a:t>我用的方案是把审批做成图里的一个中断节点。工作流跑到这里会主动停下来，并把当前状态整体持久化到检查点里。这时候内存里什么都不用留。人什么时候回来点都可以。</a:t>
            </a:r>
          </a:p>
          <a:p>
            <a:pPr/>
            <a:r>
              <a:rPr lang="zh-CN"/>
              <a:t>人点通过之后，用同一个会话标识恢复，图从断点继续往下走，模型不会重新跑一遍。</a:t>
            </a:r>
          </a:p>
          <a:p>
            <a:pPr/>
            <a:r>
              <a:rPr lang="zh-CN"/>
              <a:t>更关键的是最后一步：只有被批准的产物才会写进业务系统。人如果选择拒绝，或者只做了编辑后采纳，那么落库的是人改过的那一版，不是模型的原稿。</a:t>
            </a:r>
          </a:p>
          <a:p>
            <a:pPr/>
            <a:r>
              <a:rPr lang="zh-CN"/>
              <a:t>右下角这四条是验收里实际跑出来的结果，不是我的设计意图——拒绝之后落库产物确实是空的，采纳之后落库的定位文案确实是我手工改过的那句。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第三项可控性设计：可靠执行。</a:t>
            </a:r>
          </a:p>
          <a:p>
            <a:pPr/>
            <a:r>
              <a:rPr lang="zh-CN"/>
              <a:t>异步系统最怕两件事。第一件是消息丢了——任务创建成功，但派发的消息没发出去，业务数据里躺着一条永远不动的任务。第二件是消息重了——同样的消息被投递两次，于是同一条建议被执行两遍，库里的数据就脏了。</a:t>
            </a:r>
          </a:p>
          <a:p>
            <a:pPr/>
            <a:r>
              <a:rPr lang="zh-CN"/>
              <a:t>我分三层来解。</a:t>
            </a:r>
          </a:p>
          <a:p>
            <a:pPr/>
            <a:r>
              <a:rPr lang="zh-CN"/>
              <a:t>第一层是任务和执行分离，加上事务性发件箱。创建任务、创建执行记录、写入待派发事件，这三件事在同一个数据库事务里提交。要么都成功，要么都不成功。写进去之后，才是异步去派发。这样就不存在"任务建了但消息没了"的中间态。</a:t>
            </a:r>
          </a:p>
          <a:p>
            <a:pPr/>
            <a:r>
              <a:rPr lang="zh-CN"/>
              <a:t>第二层是幂等。每次执行都会去申请一个租约，拿到租约的才能干活。如果同一个任务被重复投递，第二个请求发现租约已经被别人拿走了，它什么也不做。数据库层的状态判断再加上租约，重复消息就被吸收了。</a:t>
            </a:r>
          </a:p>
          <a:p>
            <a:pPr/>
            <a:r>
              <a:rPr lang="zh-CN"/>
              <a:t>第三层是自愈。有一个维护任务每三十秒跑一次，扫描那些租约已经过期但状态还停在运行中的记录——这通常意味着执行它的进程崩了。维护任务会把它放回队列并递增尝试次数。</a:t>
            </a:r>
          </a:p>
          <a:p>
            <a:pPr/>
            <a:r>
              <a:rPr lang="zh-CN"/>
              <a:t>验收里这两条是对着打的：任务和事件同事务写入，以及重复投递无法认领正在运行的执行。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这一页汇报我们在工程化上做的保障工作，这些决定了系统能不能长期稳定地用下去。</a:t>
            </a:r>
          </a:p>
          <a:p>
            <a:pPr/>
            <a:r>
              <a:rPr lang="zh-CN"/>
              <a:t>左边这个二十三，是数据库迁移的版本数。二十三个版本全部按依赖关系编排好顺序，生产环境从空库到完整结构可以一条命令走完。</a:t>
            </a:r>
          </a:p>
          <a:p>
            <a:pPr/>
            <a:r>
              <a:rPr lang="zh-CN"/>
              <a:t>右边三条是我们重点补齐的部分。</a:t>
            </a:r>
          </a:p>
          <a:p>
            <a:pPr/>
            <a:r>
              <a:rPr lang="zh-CN"/>
              <a:t>第一条是前端的设计体系。原来的界面配色是散落的、每个页面各写各的，我参照飞书的设计规范抽出了一套设计令牌，然后把二十三个文件、大约两千一百处样式类名统一迁移过去。这件事本身不难，难在不能改坏。所以我写了一个前缀感知的迁移脚本，并且给它加了检查模式，可以挂到流水线上防回归。</a:t>
            </a:r>
          </a:p>
          <a:p>
            <a:pPr/>
            <a:r>
              <a:rPr lang="zh-CN"/>
              <a:t>第二条是店铺删除。原来后端根本没有删除接口。我补了一个，但关键不是"能删"，而是删除的语义：删店铺的时候，把它名下的商品解除绑定，而不是把商品一起删掉。商品是运营资产，不能因为换了个店铺就丢。同时还要处理平台账号的关联记录，避免外键约束报错。</a:t>
            </a:r>
          </a:p>
          <a:p>
            <a:pPr/>
            <a:r>
              <a:rPr lang="zh-CN"/>
              <a:t>第三条是接口分页补全。原来有几处接口只支持限制条数、不支持偏移量，也就是说翻不了页。我补齐了偏移量参数，和已有的接口对齐。</a:t>
            </a:r>
          </a:p>
          <a:p>
            <a:pPr/>
            <a:r>
              <a:rPr lang="zh-CN"/>
              <a:t>这三件事都不算"炫技"，但都是让项目从"能跑"变成"能用"的部分。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下面讲验收怎么做。这是我们认为这套系统区别于一般演示项目的地方。</a:t>
            </a:r>
          </a:p>
          <a:p>
            <a:pPr/>
            <a:r>
              <a:rPr lang="zh-CN"/>
              <a:t>我没有用"我手动点了几个接口、看起来没问题"这种验收方式，而是把它写成了一个可执行的脚本。脚本拉起来以后，会自动建表、建账号、登录、建店铺商品库存、走完 AI 链路、创建 Agent 任务、把安全边界一条条打一遍，最后再跑一遍全量回归测试。</a:t>
            </a:r>
          </a:p>
          <a:p>
            <a:pPr/>
            <a:r>
              <a:rPr lang="zh-CN"/>
              <a:t>一共五十八项用例，分九组。横轴这根条的长度就是这一组的用例数量。</a:t>
            </a:r>
          </a:p>
          <a:p>
            <a:pPr/>
            <a:r>
              <a:rPr lang="zh-CN"/>
              <a:t>数量分布上，最重的是多 Agent 那一组，十四项，因为那是核心技术点。其次是店铺商品库存十项，那是业务主链路。认证七项、模型与素材六项、环境基线五项、竞品经营五项、推广投放四项、安全边界四项、交付回归三项。</a:t>
            </a:r>
          </a:p>
          <a:p>
            <a:pPr/>
            <a:r>
              <a:rPr lang="zh-CN"/>
              <a:t>判定标准也很硬：只要有任何一项失败，整体就判不通过。脚本的退出码就是结论——零是通过，一是有失败，二是脚本自己坏了。</a:t>
            </a:r>
          </a:p>
          <a:p>
            <a:pPr/>
            <a:r>
              <a:rPr lang="zh-CN"/>
              <a:t>这套东西的价值在于可复现。因为我把外部依赖全部隔离开了：数据库用临时文件、队列用进程内模式、模型密钥清空，所以任何一台机器上跑出来的结论都一样。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这是验收结果页。三个数字。</a:t>
            </a:r>
          </a:p>
          <a:p>
            <a:pPr/>
            <a:r>
              <a:rPr lang="zh-CN"/>
              <a:t>第一个是五十八——五十八项用例,全部通过,失败零项,跳过零项。通过率百分之百。整个脚本跑完用时四十三秒。</a:t>
            </a:r>
          </a:p>
          <a:p>
            <a:pPr/>
            <a:r>
              <a:rPr lang="zh-CN"/>
              <a:t>我要强调一下这里的"跳过零项"。因为我在设计脚本的时候留了一个后门:某些项在不具备条件的时候可以标记为跳过,比如在线模式下不方便直接读对端的数据库。但最终跑出来跳过是零,意味着五十八项全部拿到了实际证据,没有一项是靠"跳过"蒙过去的。</a:t>
            </a:r>
          </a:p>
          <a:p>
            <a:pPr/>
            <a:r>
              <a:rPr lang="zh-CN"/>
              <a:t>第二个数字是回归测试:一百一十七条单元与集成测试全部通过,零失败零错误,用时五秒三。测试文件一共二十八个。</a:t>
            </a:r>
          </a:p>
          <a:p>
            <a:pPr/>
            <a:r>
              <a:rPr lang="zh-CN"/>
              <a:t>第三个是四十——这是跑完整个验收的耗时,四十三秒左右。也就是说,任何人拿到这个项目,一条命令,四十多秒就能自己复核我的全部结论。</a:t>
            </a:r>
          </a:p>
          <a:p>
            <a:pPr/>
            <a:r>
              <a:rPr lang="zh-CN"/>
              <a:t>我不想用"功能基本完成"这种话。我想说的是:这些数字是可以被复现的,你可以在自己机器上跑一遍,结果应该完全一样。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这一页我挑了四条最有说服力的证据，全部是脚本真实跑出来的输出，没有一条是我概括的。</a:t>
            </a:r>
          </a:p>
          <a:p>
            <a:pPr/>
            <a:r>
              <a:rPr lang="zh-CN"/>
              <a:t>第一条，一条高风险工作流被触发之后，第一次执行停在审批门上，图的下一个节点就是审批门；人批准之后，流程走完，状态是完成，并且业务产物只落库了一次。这条证明的是"停得下来、恢复得回去、而且不重复落库"。</a:t>
            </a:r>
          </a:p>
          <a:p>
            <a:pPr/>
            <a:r>
              <a:rPr lang="zh-CN"/>
              <a:t>第二条，同样是这条流程，人选择拒绝。结果是流程状态变成已拒绝，落库产物是空的。这条证明的是"拒绝不是装饰，是真的什么都没写进去"。</a:t>
            </a:r>
          </a:p>
          <a:p>
            <a:pPr/>
            <a:r>
              <a:rPr lang="zh-CN"/>
              <a:t>第三条，人不是直接批准，而是改了文案之后采纳。落库的那条定位文案，是我在审批时手工改的那一句，不是模型原稿。这条证明的是"人有机会真正修正模型输出，而且修正会生效"。</a:t>
            </a:r>
          </a:p>
          <a:p>
            <a:pPr/>
            <a:r>
              <a:rPr lang="zh-CN"/>
              <a:t>第四条，质量校验不通过。流程状态变成质检失败，落库零次。这条证明的是"质量门是硬门，过不去就不放行"。</a:t>
            </a:r>
          </a:p>
          <a:p>
            <a:pPr/>
            <a:r>
              <a:rPr lang="zh-CN"/>
              <a:t>我把这四条放在一起，是因为它们构成了一个完整的闭环:能停、能拒、能改、能拦。这四点都成立，才谈得上"把 AI 放进生产流程"。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这一页讲安全与合规边界。这块我态度很明确。</a:t>
            </a:r>
          </a:p>
          <a:p>
            <a:pPr/>
            <a:r>
              <a:rPr lang="zh-CN"/>
              <a:t>第一条，多租户隔离。工作区不是从请求参数里读的，而是从登录用户的成员关系里推出来的。所以改一个数字去看别人数据这条路，在结构上就是堵死的。验收里两条在打这个:路径里的工作区和会话里的不一致，直接返回无权访问;如果上下文里引用了别的租户的商品，返回不可处理的实体。</a:t>
            </a:r>
          </a:p>
          <a:p>
            <a:pPr/>
            <a:r>
              <a:rPr lang="zh-CN"/>
              <a:t>第二条，权限三档。只读角色连改商品名都做不到。验收里我是把角色临时降成只读，发一个修改请求，拿到拒绝，再把角色恢复，同一个请求就通过了。这说明权限判断是真的在生效，不是前端藏了个按钮。</a:t>
            </a:r>
          </a:p>
          <a:p>
            <a:pPr/>
            <a:r>
              <a:rPr lang="zh-CN"/>
              <a:t>第三条，密钥脱敏。模型配置的读取接口只返回掩码和"是否已配置"，从来不会把密钥原文吐出来。这一条我在验收里是直接对响应体做断言。</a:t>
            </a:r>
          </a:p>
          <a:p>
            <a:pPr/>
            <a:r>
              <a:rPr lang="zh-CN"/>
              <a:t>第四条要专门说。电商数据采集有个灰色地带，就是绕过登录、绕过验证码、或者用风控对抗的方式去抓数据。这个项目明确不做。我把授权方式做成了受控枚举:授权对接、官方接口、服务商、手工导出。想走绕登录那条路，接口层面就没有这个选项。</a:t>
            </a:r>
          </a:p>
          <a:p>
            <a:pPr/>
            <a:r>
              <a:rPr lang="zh-CN"/>
              <a:t>另外，所有破坏性操作都有人工二次确认。左侧那四条，就是这套系统对"数据安全"的回答。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最后一页，讲清楚交付边界和后续规划。</a:t>
            </a:r>
          </a:p>
          <a:p>
            <a:pPr/>
            <a:r>
              <a:rPr lang="zh-CN"/>
              <a:t>先说边界。第一，真实的出图和出片效果，需要商业供应商的密钥和配额，离线验收只能验证功能链路和兜底分支是正确的，素材质量本身必须在配好密钥的环境里补做在线验收。第二，本地开发模式用的是进程内队列，没有后台调度器，所以失败的任务不会自动重排，这个能力需要完整的容器链路。第三，前端是课程提供的现成工作台，我这次没有重写它,只做了设计令牌统一。</a:t>
            </a:r>
          </a:p>
          <a:p>
            <a:pPr/>
            <a:r>
              <a:rPr lang="zh-CN"/>
              <a:t>再说后续规划，按优先级。第一优先级是后端的健壮性:现在还有一些地方是宽泛捕获异常，可能把真实错误吞掉，需要收窄到具体异常类型并记录日志;还有几处外键缺少级联关系，删除路径上可能留下孤儿记录。第二优先级是前端体验:移动端导航、暗色模式、加载与错误的统一状态，以及客户端表单校验。</a:t>
            </a:r>
          </a:p>
          <a:p>
            <a:pPr/>
            <a:r>
              <a:rPr lang="zh-CN"/>
              <a:t>最后一句话总结。这个项目最重要的不是它能生成内容，而是它证明了:一个会自己产生副作用的 AI 系统，是可以被约束、被审批、被验收的。</a:t>
            </a:r>
          </a:p>
          <a:p>
            <a:pPr/>
            <a:r>
              <a:rPr lang="zh-CN"/>
              <a:t>模型负责产出，策略负责边界，人负责决定，系统负责记录和恢复。谢谢各位。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B1220', padding: '20px 64px', display: 'flex', flexDirection: 'column', position: 'relative', overflow: 'hidden' }} notes={`各位领导好，我是李奕波，今天汇报的是我们交付的&quot;AI 电商运营助手&quot;。&#13;&#10;&#13;&#10;先说清楚它要解决的问题。电商运营每天要重复做六件事：商品诊断、竞品分析、创意策划、图片视频生成、库存建议、经营复盘。这六件事有一个共同点——都要先看数据，再靠经验判断，最后手工产出内容。做一次不难，天天做就很重。&#13;&#10;&#13;&#10;所以我没有做一个&quot;能聊天的机器人&quot;，而是做了一条完整的运营链路：数据进来，模型生成草稿，进入媒体任务，再由多个 Agent 分工协作，最后由人来审批，通过之后才写进业务系统。&#13;&#10;&#13;&#10;这条链路上每一步都能验收、能追溯、能恢复。接下来我用十分钟，把技术选型、三项可控性设计、以及可复现的验收结果汇报清楚。`}&gt;&#13;&#10;    &lt;Box style={{ position: 'absolute', top: -160, right: -120, width: 640, height: 640, background: 'linear-gradient(135deg, #3370FF 0%, rgba(51,112,255,0) 100%)', opacity: 0.18, borderRadius: 320 }} /&gt;&#13;&#10;    &lt;Box style={{ height: 60, flexDirection: 'row', justifyContent: 'space-between', alignItems: 'center' }}&gt;&#13;&#10;        &lt;Text style={{ fontSize: 16, color: '#7B8AA3', fontFamily: &quot;'JetBrains Mono',Consolas,monospace&quot; }}&gt;ecommerce-operation-assistant&lt;/Text&gt;&#13;&#10;        &lt;Text style={{ fontSize: 16, color: '#7B8AA3' }}&gt;项目验收汇报 · 2026&lt;/Text&gt;&#13;&#10;    &lt;/Box&gt;&#13;&#10;    &lt;Box style={{ height: 560, flexDirection: 'column', justifyContent: 'center', gap: 24 }}&gt;&#13;&#10;        &lt;Text style={{ fontSize: 76, fontWeight: 'bold', color: '#EAF0F8', lineHeight: 1.15 }}&gt;AI 电商运营助手&lt;/Text&gt;&#13;&#10;        &lt;Text style={{ fontSize: 28, color: '#EAF0F8', lineHeight: 1.5 }}&gt;&#13;&#10;            &lt;&gt;把 数据 · 模型生成 · 媒体任务 · 多 Agent 审批 · 系统交付&lt;br /&gt;串成一条&lt;span style={{ color: '#3370FF', fontWeight: 'bold' }}&gt; 可验收 · 可追溯 · 可恢复 &lt;/span&gt;的运营链路&lt;/&gt;&#13;&#10;        &lt;/Text&gt;&#13;&#10;        &lt;Box style={{ width: 120, height: 4, background: '#3370FF', borderRadius: 2 }} /&gt;&#13;&#10;        &lt;Text style={{ fontSize: 18, color: '#7B8AA3' }}&gt;FastAPI · LangGraph · Celery · MySQL / PostgreSQL · Docker Compose&lt;/Text&gt;&#13;&#10;    &lt;/Box&gt;&#13;&#10;    &lt;Box style={{ height: 60, flexDirection: 'row', justifyContent: 'space-between', alignItems: 'center' }}&gt;&#13;&#10;        &lt;Text style={{ fontSize: 20, color: '#EAF0F8', fontWeight: '600' }}&gt;李奕波&lt;/Text&gt;&#13;&#10;        &lt;Text style={{ fontSize: 16, color: '#7B8AA3' }}&gt;58 项验收用例 · pytest 117 passed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>ecommerce-operation-assistant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0182225" y="381000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2026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5700" b="1">
                <a:solidFill>
                  <a:srgbClr val="EAF0F8"/>
                </a:solidFill>
                <a:latin typeface="Microsoft YaHei"/>
                <a:ea typeface="Microsoft YaHei"/>
              </a:rPr>
              <a:t>电商运营助手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1097280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把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数据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模型生成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媒体任务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多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审批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系统交付</a:t>
            </a:r>
            <a:endParaRPr/>
          </a:p>
          <a:p>
            <a:pPr>
              <a:lnSpc>
                <a:spcPct val="150000"/>
              </a:lnSpc>
            </a:pP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串成一条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可验收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可追溯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可恢复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的运营链路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44005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3370F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466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7B8AA3"/>
                </a:solidFill>
                <a:latin typeface="Microsoft YaHei"/>
                <a:ea typeface="Microsoft YaHei"/>
              </a:rPr>
              <a:t>FastAPI · LangGraph · Celery · MySQL / PostgreSQL · Docker Compose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2674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李奕波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53525" y="62865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项验收用例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pytest 117 passed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7239000" y="-1524000"/>
            <a:ext cx="6096000" cy="6096000"/>
          </a:xfrm>
          <a:custGeom>
            <a:pathLst>
              <a:path w="640" h="640">
                <a:moveTo>
                  <a:pt x="520" y="570"/>
                </a:moveTo>
                <a:lnTo>
                  <a:pt x="518" y="572"/>
                </a:lnTo>
                <a:lnTo>
                  <a:pt x="511" y="576"/>
                </a:lnTo>
                <a:lnTo>
                  <a:pt x="505" y="581"/>
                </a:lnTo>
                <a:lnTo>
                  <a:pt x="499" y="585"/>
                </a:lnTo>
                <a:lnTo>
                  <a:pt x="492" y="590"/>
                </a:lnTo>
                <a:lnTo>
                  <a:pt x="486" y="594"/>
                </a:lnTo>
                <a:lnTo>
                  <a:pt x="479" y="598"/>
                </a:lnTo>
                <a:lnTo>
                  <a:pt x="472" y="601"/>
                </a:lnTo>
                <a:lnTo>
                  <a:pt x="466" y="605"/>
                </a:lnTo>
                <a:lnTo>
                  <a:pt x="459" y="608"/>
                </a:lnTo>
                <a:lnTo>
                  <a:pt x="452" y="612"/>
                </a:lnTo>
                <a:lnTo>
                  <a:pt x="445" y="615"/>
                </a:ln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3" y="160"/>
                </a:lnTo>
                <a:lnTo>
                  <a:pt x="520" y="160"/>
                </a:lnTo>
                <a:close/>
              </a:path>
            </a:pathLst>
          </a:custGeom>
          <a:gradFill>
            <a:gsLst>
              <a:gs pos="0">
                <a:srgbClr val="3370FF">
                  <a:alpha val="18000"/>
                </a:srgbClr>
              </a:gs>
              <a:gs pos="100000">
                <a:srgbClr val="3370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style={{ width: 1280, height: 720, background: '#0B1220', padding: '20px 64px', display: 'flex', flexDirection: 'column' }} notes={`我按五段来汇报。&#13;&#10;&#13;&#10;第一段讲痛点与目标，说明为什么这六类动作需要系统化，而不是再做一堆单点的 AI 工具。&#13;&#10;&#13;&#10;第二段讲技术栈与架构。这里想强调的不是用了多少框架，而是分层的衔接方式——尤其是鉴权和租户隔离收口在哪一层，这直接决定了数据安不安全。&#13;&#10;&#13;&#10;第三段是今天最重要的部分，三项可控性设计：模型不能直接碰数据库的受控工具网关、人工审批加断点恢复、以及重复消息下的可靠执行。这三个点决定了这套系统能不能真的上生产。&#13;&#10;&#13;&#10;第四段讲验收。我们把验收写成可执行的脚本，五十八项用例分九组，结论由退出码给出，不靠主观判断，你们也可以自己跑一遍复核。&#13;&#10;&#13;&#10;第五段是交付边界和后续规划。哪些已经交付、哪些需要配合、哪些建议后续再补，我都会讲清楚。`}&gt;&#13;&#10;    &lt;Box style={{ height: 100, flexDirection: 'row', justifyContent: 'space-between', alignItems: 'center', borderBottom: '1px solid rgba(123,138,163,0.24)' }}&gt;&#13;&#10;        &lt;Text style={{ fontSize: 36, fontWeight: 'bold', color: '#EAF0F8' }}&gt;汇报要点&lt;/Text&gt;&#13;&#10;        &lt;Text style={{ fontSize: 16, color: '#7B8AA3' }}&gt;AGENDA&lt;/Text&gt;&#13;&#10;    &lt;/Box&gt;&#13;&#10;    &lt;Box style={{ height: 520, flexDirection: 'column', justifyContent: 'center', gap: 12 }}&gt;&#13;&#10;        &lt;Box style={{ height: 88, flexDirection: 'row', alignItems: 'center', gap: 20 }}&gt;&#13;&#10;            &lt;Text style={{ fontSize: 28, fontWeight: 'bold', color: '#3370FF', fontFamily: &quot;'JetBrains Mono',Consolas,monospace&quot;, width: 64 }}&gt;01&lt;/Text&gt;&#13;&#10;            &lt;Box style={{ flex: 1, flexDirection: 'column', gap: 4 }}&gt;&#13;&#10;                &lt;Text style={{ fontSize: 24, fontWeight: '600', color: '#EAF0F8' }}&gt;痛点与目标&lt;/Text&gt;&#13;&#10;                &lt;Text style={{ fontSize: 16, color: '#7B8AA3' }}&gt;六类高频运营动作，为什么需要一条可验收的链路而不是又一个工具&lt;/Text&gt;&#13;&#10;            &lt;/Box&gt;&#13;&#10;        &lt;/Box&gt;&#13;&#10;        &lt;Box style={{ height: 88, flexDirection: 'row', alignItems: 'center', gap: 20 }}&gt;&#13;&#10;            &lt;Text style={{ fontSize: 28, fontWeight: 'bold', color: '#3370FF', fontFamily: &quot;'JetBrains Mono',Consolas,monospace&quot;, width: 64 }}&gt;02&lt;/Text&gt;&#13;&#10;            &lt;Box style={{ flex: 1, flexDirection: 'column', gap: 4 }}&gt;&#13;&#10;                &lt;Text style={{ fontSize: 24, fontWeight: '600', color: '#EAF0F8' }}&gt;技术栈与分层架构&lt;/Text&gt;&#13;&#10;                &lt;Text style={{ fontSize: 16, color: '#7B8AA3' }}&gt;FastAPI、LangGraph、Celery 的分层职责，以及鉴权收口的位置&lt;/Text&gt;&#13;&#10;            &lt;/Box&gt;&#13;&#10;        &lt;/Box&gt;&#13;&#10;        &lt;Box style={{ height: 88, flexDirection: 'row', alignItems: 'center', gap: 20 }}&gt;&#13;&#10;            &lt;Text style={{ fontSize: 28, fontWeight: 'bold', color: '#3370FF', fontFamily: &quot;'JetBrains Mono',Consolas,monospace&quot;, width: 64 }}&gt;03&lt;/Text&gt;&#13;&#10;            &lt;Box style={{ flex: 1, flexDirection: 'column', gap: 4 }}&gt;&#13;&#10;                &lt;Text style={{ fontSize: 24, fontWeight: '600', color: '#EAF0F8' }}&gt;三项可控性设计&lt;/Text&gt;&#13;&#10;                &lt;Text style={{ fontSize: 16, color: '#7B8AA3' }}&gt;受控工具网关 · 人工审批与断点恢复 · 重复消息下的可靠执行&lt;/Text&gt;&#13;&#10;            &lt;/Box&gt;&#13;&#10;        &lt;/Box&gt;&#13;&#10;        &lt;Box style={{ height: 88, flexDirection: 'row', alignItems: 'center', gap: 20 }}&gt;&#13;&#10;            &lt;Text style={{ fontSize: 28, fontWeight: 'bold', color: '#3370FF', fontFamily: &quot;'JetBrains Mono',Consolas,monospace&quot;, width: 64 }}&gt;04&lt;/Text&gt;&#13;&#10;            &lt;Box style={{ flex: 1, flexDirection: 'column', gap: 4 }}&gt;&#13;&#10;                &lt;Text style={{ fontSize: 24, fontWeight: '600', color: '#EAF0F8' }}&gt;验收方法与结果&lt;/Text&gt;&#13;&#10;                &lt;Text style={{ fontSize: 16, color: '#7B8AA3' }}&gt;58 项用例分 9 组，退出码判定，pytest 117 条全绿&lt;/Text&gt;&#13;&#10;            &lt;/Box&gt;&#13;&#10;        &lt;/Box&gt;&#13;&#10;        &lt;Box style={{ height: 88, flexDirection: 'row', alignItems: 'center', gap: 20 }}&gt;&#13;&#10;            &lt;Text style={{ fontSize: 28, fontWeight: 'bold', color: '#3370FF', fontFamily: &quot;'JetBrains Mono',Consolas,monospace&quot;, width: 64 }}&gt;05&lt;/Text&gt;&#13;&#10;            &lt;Box style={{ flex: 1, flexDirection: 'column', gap: 4 }}&gt;&#13;&#10;                &lt;Text style={{ fontSize: 24, fontWeight: '600', color: '#EAF0F8' }}&gt;边界与下一步&lt;/Text&gt;&#13;&#10;                &lt;Text style={{ fontSize: 16, color: '#7B8AA3' }}&gt;安全合规约束、已知限制、以及后续改进优先级&lt;/Text&gt;&#13;&#10;            &lt;/Box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2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汇报要点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934700" y="571500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AGENDA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15525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409700" y="14668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痛点与目标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409700" y="17811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六类高频运营动作，为什么需要一条可验收的链路而不是又一个工具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25050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409700" y="24193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技术栈与分层架构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409700" y="27336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FastAPI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LangGraph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Celery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的分层职责，以及鉴权收口的位置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34575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409700" y="33718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三项可控性设计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409700" y="36861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受控工具网关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人工审批与断点恢复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重复消息下的可靠执行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409700" y="43243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验收方法与结果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409700" y="46386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项用例分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组，退出码判定，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pytest 117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条全绿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53625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409700" y="52768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边界与下一步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409700" y="55911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安全合规约束、已知限制、以及后续改进优先级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60" name="" descr="&lt;Slide style={{ width: 1280, height: 720, background: '#0B1220', padding: '20px 64px', display: 'flex', flexDirection: 'column' }} notes={`左边这六格，就是电商运营每天真正在重复的事。&#13;&#10;&#13;&#10;我举个具体场景。一个新品要上架，运营要先看自己商品的资料做诊断，再去看竞品在卖什么卖点、卖什么价，然后策划主图方向、写视频脚本，图要走供应商生成，回来还要判断库存够不够、要不要补货，一个周期结束还要做经营复盘。&#13;&#10;&#13;&#10;问题有三个。&#13;&#10;&#13;&#10;第一，这些动作是串行的，但工具是散的，数据在平台后台，结论在人的脑子里，产出在设计软件里，中间全靠人工搬运。&#13;&#10;&#13;&#10;第二，AI 生成的内容不能直接信，更不能直接写进系统。模型可能编造卖点、可能踩合规红线，所以必须有人在中间把关。&#13;&#10;&#13;&#10;第三，也是最容易被忽略的——人是要下班的。审批可能隔天才点，如果中间状态丢了，就得整个重跑一遍模型，成本和时间都浪费。&#13;&#10;&#13;&#10;所以我的目标不是&quot;让 AI 替人写文案&quot;，而是让 AI 把草稿做到八十分，把人的工作从&quot;从零产出&quot;变成&quot;审核与微调&quot;，同时保证系统层面的可控。`}&gt;&#13;&#10;    &lt;Box style={{ height: 100, flexDirection: 'row', justifyContent: 'space-between', alignItems: 'center', borderBottom: '1px solid rgba(123,138,163,0.24)' }}&gt;&#13;&#10;        &lt;Text style={{ fontSize: 36, fontWeight: 'bold', color: '#EAF0F8' }}&gt;痛点与目标&lt;/Text&gt;&#13;&#10;        &lt;Text style={{ fontSize: 16, color: '#7B8AA3' }}&gt;WHY · 六类高频动作&lt;/Text&gt;&#13;&#10;    &lt;/Box&gt;&#13;&#10;    &lt;Box style={{ height: 520, flexDirection: 'row', alignItems: 'center', gap: 24 }}&gt;&#13;&#10;        &lt;Box style={{ width: 660, height: 496, flexDirection: 'column', gap: 16 }}&gt;&#13;&#10;            &lt;Box style={{ height: 154, flexDirection: 'row', gap: 16 }}&gt;&#13;&#10;                &lt;Box style={{ width: 322, height: 154, background: 'rgba(255,255,255,0.04)', border: '1px solid rgba(123,138,163,0.24)', borderRadius: 12, padding: 18, flexDirection: 'column', gap: 8 }}&gt;&#13;&#10;                    &lt;Text style={{ fontSize: 24, fontWeight: '600', color: '#EAF0F8' }}&gt;商品诊断&lt;/Text&gt;&#13;&#10;                    &lt;Text style={{ fontSize: 16, color: '#7B8AA3', lineHeight: 1.5 }}&gt;定位、价格带、人群、痛点、卖点结构，凭经验判断不可复现&lt;/Text&gt;&#13;&#10;                &lt;/Box&gt;&#13;&#10;                &lt;Box style={{ width: 322, height: 154, background: 'rgba(255,255,255,0.04)', border: '1px solid rgba(123,138,163,0.24)', borderRadius: 12, padding: 18, flexDirection: 'column', gap: 8 }}&gt;&#13;&#10;                    &lt;Text style={{ fontSize: 24, fontWeight: '600', color: '#EAF0F8' }}&gt;竞品分析&lt;/Text&gt;&#13;&#10;                    &lt;Text style={{ fontSize: 16, color: '#7B8AA3', lineHeight: 1.5 }}&gt;对手改价、换主图、上活动，靠人工刷页面很难及时发现&lt;/Text&gt;&#13;&#10;                &lt;/Box&gt;&#13;&#10;            &lt;/Box&gt;&#13;&#10;            &lt;Box style={{ height: 154, flexDirection: 'row', gap: 16 }}&gt;&#13;&#10;                &lt;Box style={{ width: 322, height: 154, background: 'rgba(255,255,255,0.04)', border: '1px solid rgba(123,138,163,0.24)', borderRadius: 12, padding: 18, flexDirection: 'column', gap: 8 }}&gt;&#13;&#10;                    &lt;Text style={{ fontSize: 24, fontWeight: '600', color: '#EAF0F8' }}&gt;创意策划&lt;/Text&gt;&#13;&#10;                    &lt;Text style={{ fontSize: 16, color: '#7B8AA3', lineHeight: 1.5 }}&gt;主图方向、视频脚本、标题、详情页，每次都要重新想一遍&lt;/Text&gt;&#13;&#10;                &lt;/Box&gt;&#13;&#10;                &lt;Box style={{ width: 322, height: 154, background: 'rgba(255,255,255,0.04)', border: '1px solid rgba(123,138,163,0.24)', borderRadius: 12, padding: 18, flexDirection: 'column', gap: 8 }}&gt;&#13;&#10;                    &lt;Text style={{ fontSize: 24, fontWeight: '600', color: '#EAF0F8' }}&gt;图片 / 视频生成&lt;/Text&gt;&#13;&#10;                    &lt;Text style={{ fontSize: 16, color: '#7B8AA3', lineHeight: 1.5 }}&gt;提交给供应商后要轮询、要落库、要复核，链路长且易漏&lt;/Text&gt;&#13;&#10;                &lt;/Box&gt;&#13;&#10;            &lt;/Box&gt;&#13;&#10;            &lt;Box style={{ height: 154, flexDirection: 'row', gap: 16 }}&gt;&#13;&#10;                &lt;Box style={{ width: 322, height: 154, background: 'rgba(255,255,255,0.04)', border: '1px solid rgba(123,138,163,0.24)', borderRadius: 12, padding: 18, flexDirection: 'column', gap: 8 }}&gt;&#13;&#10;                    &lt;Text style={{ fontSize: 24, fontWeight: '600', color: '#EAF0F8' }}&gt;库存建议&lt;/Text&gt;&#13;&#10;                    &lt;Text style={{ fontSize: 16, color: '#7B8AA3', lineHeight: 1.5 }}&gt;缺货与积压同时存在，补货策略缺少统一口径&lt;/Text&gt;&#13;&#10;                &lt;/Box&gt;&#13;&#10;                &lt;Box style={{ width: 322, height: 154, background: 'rgba(255,255,255,0.04)', border: '1px solid rgba(123,138,163,0.24)', borderRadius: 12, padding: 18, flexDirection: 'column', gap: 8 }}&gt;&#13;&#10;                    &lt;Text style={{ fontSize: 24, fontWeight: '600', color: '#EAF0F8' }}&gt;经营复盘&lt;/Text&gt;&#13;&#10;                    &lt;Text style={{ fontSize: 16, color: '#7B8AA3', lineHeight: 1.5 }}&gt;数据要手工汇总，结论与下一步动作难以沉淀和复用&lt;/Text&gt;&#13;&#10;                &lt;/Box&gt;&#13;&#10;            &lt;/Box&gt;&#13;&#10;        &lt;/Box&gt;&#13;&#10;        &lt;Box style={{ width: 468, height: 496, background: 'rgba(51,112,255,0.12)', border: '1px solid rgba(51,112,255,0.35)', borderRadius: 16, padding: 26, flexDirection: 'column', gap: 18 }}&gt;&#13;&#10;            &lt;Text style={{ fontSize: 16, color: '#3370FF', fontWeight: '600' }}&gt;我们交付的价值&lt;/Text&gt;&#13;&#10;            &lt;Text style={{ fontSize: 24, fontWeight: 'bold', color: '#EAF0F8', lineHeight: 1.4 }}&gt;让 AI 把草稿做到 80 分，把人的工作从&quot;从零产出&quot;变成&quot;审核与微调&quot;&lt;/Text&gt;&#13;&#10;            &lt;Box style={{ height: 1, background: 'rgba(123,138,163,0.24)' }} /&gt;&#13;&#10;            &lt;Text style={{ fontSize: 18, color: '#EAF0F8', lineHeight: 1.7 }}&gt;&#13;&#10;                &lt;&gt;① 结构化 JSON 输出，每条结论都可复核&lt;br /&gt;&lt;br /&gt;② 模型只经受控工具访问数据，越权直接拒绝&lt;br /&gt;&lt;br /&gt;③ 高风险动作人工审批，审批可跨时间断点恢复&lt;br /&gt;&lt;br /&gt;④ 结论由可执行验收脚本给出，不靠主观印象&lt;/&gt;&#13;&#10;            &lt;/Text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3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714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痛点与目标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172700" y="571500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WHY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六类高频动作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12573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81050" y="14287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商品诊断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81050" y="17811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定位、价格带、人群、痛点、卖点结构，凭经验判断不可复现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829050" y="12573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000500" y="14287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000500" y="17811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对手改价、换主图、上活动，靠人工刷页面很难及时发现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287655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" y="304800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创意策划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主图方向、视频脚本、标题、详情页，每次都要重新想一遍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29050" y="287655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000500" y="304800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图片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视频生成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000500" y="340042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提交给供应商后要轮询、要落库、要复核，链路长且易漏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44958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81050" y="46672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库存建议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81050" y="50196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缺货与积压同时存在，补货策略缺少统一口径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3829050" y="44958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000500" y="46672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经营复盘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000500" y="50196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数据要手工汇总，结论与下一步动作难以沉淀和复用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124700" y="1257300"/>
            <a:ext cx="4457700" cy="4724400"/>
          </a:xfrm>
          <a:prstGeom prst="roundRect">
            <a:avLst>
              <a:gd name="adj" fmla="val 3419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372350" y="1504950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我们交付的价值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372350" y="1866900"/>
            <a:ext cx="3962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让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把草稿做到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分，把人的工作从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从零产出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变成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审核与微调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372350" y="2809875"/>
            <a:ext cx="3962400" cy="9525"/>
          </a:xfrm>
          <a:prstGeom prst="rect">
            <a:avLst/>
          </a:pr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372350" y="2990850"/>
            <a:ext cx="3962400" cy="2457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结构化</a:t>
            </a: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输出，每条结论都可复核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模型只经受控工具访问数据，越权直接拒绝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高风险动作人工审批，审批可跨时间断点恢复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结论由可执行验收脚本给出，不靠主观印象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1280, height: 720, background: '#0B1220', padding: '20px 64px', display: 'flex', flexDirection: 'column' }} notes={`这张图是分层的骨架。我从上往下讲。&#13;&#10;&#13;&#10;最上面是前端工作台，Next.js 写的，本次没有重写，只做联调和视觉统一。它调用的接口统一挂在一个前缀下，所有文档都在一个入口。&#13;&#10;&#13;&#10;第二层是接口层，十一个路由模块，职责是收参数、做鉴权、返回结构化结果。这里有个关键设计：鉴权、租户隔离、权限判断全部收口在依赖层。也就是说，路由和服务代码里不会去信任请求体里传进来的工作区编号，工作区是从登录用户的成员关系里解析出来的。这样越权从结构上就不成立。&#13;&#10;&#13;&#10;第三层是领域服务层，三十四个服务模块，业务规则和事务都在这层，路由里不写业务逻辑。&#13;&#10;&#13;&#10;第四层是数据和持久化。业务库生产用 MySQL，本地开发和自动化测试用 SQLite，模型定义做了兼容，所以同一套代码两边都能跑。Agent 的检查点单独放在 PostgreSQL。&#13;&#10;&#13;&#10;最下面是异步与编排层：Celery 加 Redis 负责异步任务，LangGraph 负责多 Agent 的图编排。本地可以把队列切成&quot;进程内同步执行&quot;，这样没有 Redis 也能把功能链路跑通，这是我把项目做到&quot;任何机器都能复现&quot;的前提。`}&gt;&#13;&#10;    &lt;Box style={{ height: 100, flexDirection: 'row', justifyContent: 'space-between', alignItems: 'center', borderBottom: '1px solid rgba(123,138,163,0.24)' }}&gt;&#13;&#10;        &lt;Text style={{ fontSize: 36, fontWeight: 'bold', color: '#EAF0F8' }}&gt;技术栈与分层架构&lt;/Text&gt;&#13;&#10;        &lt;Text style={{ fontSize: 16, color: '#7B8AA3' }}&gt;HOW · 五层职责&lt;/Text&gt;&#13;&#10;    &lt;/Box&gt;&#13;&#10;    &lt;Box style={{ height: 520, flexDirection: 'column', justifyContent: 'center', gap: 12 }}&gt;&#13;&#10;        &lt;Box style={{ height: 82, background: 'rgba(51,112,255,0.12)', border: '1px solid rgba(51,112,255,0.35)', borderRadius: 10, padding: '0 22px', flexDirection: 'row', alignItems: 'center', justifyContent: 'space-between' }}&gt;&#13;&#10;            &lt;Text style={{ fontSize: 24, fontWeight: 'bold', color: '#EAF0F8' }}&gt;前端工作台&lt;/Text&gt;&#13;&#10;            &lt;Text style={{ fontSize: 16, color: '#7B8AA3', fontFamily: &quot;'JetBrains Mono',Consolas,monospace&quot; }}&gt;Next.js / TypeScript · 现成工作台，不重写 · 统一设计令牌&lt;/Text&gt;&#13;&#10;        &lt;/Box&gt;&#13;&#10;        &lt;Box style={{ height: 82, background: 'rgba(255,255,255,0.04)', border: '1px solid rgba(123,138,163,0.24)', borderRadius: 10, padding: '0 22px', flexDirection: 'row', alignItems: 'center', justifyContent: 'space-between' }}&gt;&#13;&#10;            &lt;Text style={{ fontSize: 24, fontWeight: 'bold', color: '#EAF0F8' }}&gt;接口层&lt;/Text&gt;&#13;&#10;            &lt;Text style={{ fontSize: 16, color: '#7B8AA3', fontFamily: &quot;'JetBrains Mono',Consolas,monospace&quot; }}&gt;FastAPI · 11 个路由模块 · /api/v1 · 鉴权与租户隔离在依赖层收口&lt;/Text&gt;&#13;&#10;        &lt;/Box&gt;&#13;&#10;        &lt;Box style={{ height: 82, background: 'rgba(255,255,255,0.04)', border: '1px solid rgba(123,138,163,0.24)', borderRadius: 10, padding: '0 22px', flexDirection: 'row', alignItems: 'center', justifyContent: 'space-between' }}&gt;&#13;&#10;            &lt;Text style={{ fontSize: 24, fontWeight: 'bold', color: '#EAF0F8' }}&gt;领域服务层&lt;/Text&gt;&#13;&#10;            &lt;Text style={{ fontSize: 16, color: '#7B8AA3', fontFamily: &quot;'JetBrains Mono',Consolas,monospace&quot; }}&gt;34 个服务 · 业务规则与事务边界 · 供应商适配&lt;/Text&gt;&#13;&#10;        &lt;/Box&gt;&#13;&#10;        &lt;Box style={{ height: 82, background: 'rgba(255,255,255,0.04)', border: '1px solid rgba(123,138,163,0.24)', borderRadius: 10, padding: '0 22px', flexDirection: 'row', alignItems: 'center', justifyContent: 'space-between' }}&gt;&#13;&#10;            &lt;Text style={{ fontSize: 24, fontWeight: 'bold', color: '#EAF0F8' }}&gt;数据与持久化&lt;/Text&gt;&#13;&#10;            &lt;Text style={{ fontSize: 16, color: '#7B8AA3', fontFamily: &quot;'JetBrains Mono',Consolas,monospace&quot; }}&gt;SQLAlchemy 2.x + Alembic 23 迁移 · MySQL 生产 / SQLite 本地 · PG 检查点&lt;/Text&gt;&#13;&#10;        &lt;/Box&gt;&#13;&#10;        &lt;Box style={{ height: 82, background: 'rgba(255,255,255,0.04)', border: '1px solid rgba(123,138,163,0.24)', borderRadius: 10, padding: '0 22px', flexDirection: 'row', alignItems: 'center', justifyContent: 'space-between' }}&gt;&#13;&#10;            &lt;Text style={{ fontSize: 24, fontWeight: 'bold', color: '#EAF0F8' }}&gt;异步与编排&lt;/Text&gt;&#13;&#10;            &lt;Text style={{ fontSize: 16, color: '#7B8AA3', fontFamily: &quot;'JetBrains Mono',Consolas,monospace&quot; }}&gt;Celery + Redis · LangGraph 多 Agent 图 · inline 模式免依赖跑通&lt;/Text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4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技术栈与分层架构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439400" y="5715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HOW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五层职责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14382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前端工作台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905625" y="1733550"/>
            <a:ext cx="4467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Next.js / TypeScript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现成工作台，不重写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统一设计令牌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23336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25908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接口层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448425" y="2628900"/>
            <a:ext cx="492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FastAPI · 11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个路由模块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/api/v1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鉴权与租户隔离在依赖层收口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32289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19150" y="34861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领域服务层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20050" y="3524250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34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个服务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业务规则与事务边界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供应商适配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41243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数据与持久化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553075" y="4419600"/>
            <a:ext cx="5819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SQLAlchemy 2.x + Alembic 23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迁移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MySQL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生产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/ SQLite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本地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PG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检查点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50196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19150" y="52768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异步与编排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305550" y="531495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Celery + Redis · LangGraph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多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图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inline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模式免依赖跑通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12" name="" descr="&lt;Slide style={{ width: 1280, height: 720, background: '#0B1220', padding: '20px 64px', display: 'flex', flexDirection: 'column' }} notes={`我想专门花一页讲一次请求是怎么走的，因为这里最能体现工程判断。&#13;&#10;&#13;&#10;请求进来先过跨域中间件，然后进入路由依赖。依赖里做三件事。&#13;&#10;&#13;&#10;第一，解析登录凭证，把令牌换成用户对象，而且每次请求都重新校验账号是否仍然可用——不能因为令牌还没过期，就放过一个已经被停用的账号。&#13;&#10;&#13;&#10;第二，解析租户。注意，工作区编号不是从请求体里读的，而是从用户的成员关系里推出来的。这一步是关键：如果信任请求体，那攻击者改一个数字就能看到别人的数据。&#13;&#10;&#13;&#10;第三，做权限判断。角色分三档，只读、操作、拥有者，全局拥有者另外管用户。&#13;&#10;&#13;&#10;三件事做完，才进入服务层。服务层里跑事务和业务规则，然后走数据访问层落库。&#13;&#10;&#13;&#10;我把这个顺序强调出来，是因为验收里专门有两项在打这里：跨工作区路径不一致返回 403，跨租户的商品上下文返回 422。这两项不是补丁，是结构上就该成立的结果。`}&gt;&#13;&#10;    &lt;Box style={{ height: 100, flexDirection: 'row', justifyContent: 'space-between', alignItems: 'center', borderBottom: '1px solid rgba(123,138,163,0.24)' }}&gt;&#13;&#10;        &lt;Text style={{ fontSize: 36, fontWeight: 'bold', color: '#EAF0F8' }}&gt;一次请求的生命周期&lt;/Text&gt;&#13;&#10;        &lt;Text style={{ fontSize: 16, color: '#7B8AA3' }}&gt;FLOW · 鉴权收口位置&lt;/Text&gt;&#13;&#10;    &lt;/Box&gt;&#13;&#10;    &lt;Box style={{ height: 520, flexDirection: 'column', gap: 24, paddingTop: 4 }}&gt;&#13;&#10;        &lt;Box style={{ height: 160, flexDirection: 'row', gap: 16 }}&gt;&#13;&#10;            &lt;Box style={{ width: 217, height: 160, background: 'rgba(255,255,255,0.04)', border: '1px solid rgba(123,138,163,0.24)', borderRadius: 10, padding: 16, flexDirection: 'column', gap: 8 }}&gt;&#13;&#10;                &lt;Text style={{ fontSize: 16, color: '#3370FF', fontFamily: &quot;'JetBrains Mono',Consolas,monospace&quot; }}&gt;01&lt;/Text&gt;&#13;&#10;                &lt;Text style={{ fontSize: 22, fontWeight: '600', color: '#EAF0F8', lineHeight: 1.3 }}&gt;跨域中间件&lt;/Text&gt;&#13;&#10;                &lt;Text style={{ fontSize: 15, color: '#7B8AA3', lineHeight: 1.5 }}&gt;统一处理来源与预检，前端联调不额外开洞&lt;/Text&gt;&#13;&#10;            &lt;/Box&gt;&#13;&#10;            &lt;Box style={{ width: 217, height: 160, background: 'rgba(255,255,255,0.04)', border: '1px solid rgba(123,138,163,0.24)', borderRadius: 10, padding: 16, flexDirection: 'column', gap: 8 }}&gt;&#13;&#10;                &lt;Text style={{ fontSize: 16, color: '#3370FF', fontFamily: &quot;'JetBrains Mono',Consolas,monospace&quot; }}&gt;02&lt;/Text&gt;&#13;&#10;                &lt;Text style={{ fontSize: 22, fontWeight: '600', color: '#EAF0F8', lineHeight: 1.3 }}&gt;解析凭证&lt;/Text&gt;&#13;&#10;                &lt;Text style={{ fontSize: 15, color: '#7B8AA3', lineHeight: 1.5 }}&gt;令牌换用户，且每次重新校验账号可用性&lt;/Text&gt;&#13;&#10;            &lt;/Box&gt;&#13;&#10;            &lt;Box style={{ width: 217, height: 160, background: 'rgba(255,255,255,0.04)', border: '1px solid rgba(123,138,163,0.24)', borderRadius: 10, padding: 16, flexDirection: 'column', gap: 8 }}&gt;&#13;&#10;                &lt;Text style={{ fontSize: 16, color: '#3370FF', fontFamily: &quot;'JetBrains Mono',Consolas,monospace&quot; }}&gt;03&lt;/Text&gt;&#13;&#10;                &lt;Text style={{ fontSize: 22, fontWeight: '600', color: '#EAF0F8', lineHeight: 1.3 }}&gt;解析租户&lt;/Text&gt;&#13;&#10;                &lt;Text style={{ fontSize: 15, color: '#7B8AA3', lineHeight: 1.5 }}&gt;工作区由成员关系决定，不信任请求体字段&lt;/Text&gt;&#13;&#10;            &lt;/Box&gt;&#13;&#10;            &lt;Box style={{ width: 217, height: 160, background: 'rgba(255,255,255,0.04)', border: '1px solid rgba(123,138,163,0.24)', borderRadius: 10, padding: 16, flexDirection: 'column', gap: 8 }}&gt;&#13;&#10;                &lt;Text style={{ fontSize: 16, color: '#3370FF', fontFamily: &quot;'JetBrains Mono',Consolas,monospace&quot; }}&gt;04&lt;/Text&gt;&#13;&#10;                &lt;Text style={{ fontSize: 22, fontWeight: '600', color: '#EAF0F8', lineHeight: 1.3 }}&gt;权限判断&lt;/Text&gt;&#13;&#10;                &lt;Text style={{ fontSize: 15, color: '#7B8AA3', lineHeight: 1.5 }}&gt;只读 / 操作 / 拥有者三档，越权直接 403&lt;/Text&gt;&#13;&#10;            &lt;/Box&gt;&#13;&#10;            &lt;Box style={{ width: 217, height: 160, background: 'rgba(255,255,255,0.04)', border: '1px solid rgba(123,138,163,0.24)', borderRadius: 10, padding: 16, flexDirection: 'column', gap: 8 }}&gt;&#13;&#10;                &lt;Text style={{ fontSize: 16, color: '#3370FF', fontFamily: &quot;'JetBrains Mono',Consolas,monospace&quot; }}&gt;05&lt;/Text&gt;&#13;&#10;                &lt;Text style={{ fontSize: 22, fontWeight: '600', color: '#EAF0F8', lineHeight: 1.3 }}&gt;服务层事务&lt;/Text&gt;&#13;&#10;                &lt;Text style={{ fontSize: 15, color: '#7B8AA3', lineHeight: 1.5 }}&gt;业务规则与事务边界集中，请求结束自动关会话&lt;/Text&gt;&#13;&#10;            &lt;/Box&gt;&#13;&#10;        &lt;/Box&gt;&#13;&#10;        &lt;Box style={{ height: 312, flexDirection: 'row', gap: 20 }}&gt;&#13;&#10;            &lt;Box style={{ flex: 1, background: 'rgba(51,112,255,0.12)', border: '1px solid rgba(51,112,255,0.35)', borderRadius: 12, padding: 22, flexDirection: 'column', gap: 10 }}&gt;&#13;&#10;                &lt;Text style={{ fontSize: 22, fontWeight: '600', color: '#EAF0F8' }}&gt;鉴权收口原则&lt;/Text&gt;&#13;&#10;                &lt;Text style={{ fontSize: 17, color: '#EAF0F8', lineHeight: 1.65 }}&gt;路由与服务不直接信任请求体里的工作区编号。&lt;br /&gt;越权在结构上不成立，而不是靠每处补校验。&lt;/Text&gt;&#13;&#10;                &lt;Text style={{ fontSize: 15, color: '#7B8AA3', marginTop: 'auto' }}&gt;对应验收：AUTH-04 / AUTH-05 / SEC-02&lt;/Text&gt;&#13;&#10;            &lt;/Box&gt;&#13;&#10;            &lt;Box style={{ flex: 1, background: 'rgba(255,255,255,0.04)', border: '1px solid rgba(123,138,163,0.24)', borderRadius: 12, padding: 22, flexDirection: 'column', gap: 10 }}&gt;&#13;&#10;                &lt;Text style={{ fontSize: 22, fontWeight: '600', color: '#EAF0F8' }}&gt;多租户隔离&lt;/Text&gt;&#13;&#10;                &lt;Text style={{ fontSize: 17, color: '#EAF0F8', lineHeight: 1.65 }}&gt;路径工作区与会话工作区不一致 → 403；&lt;br /&gt;上下文引用他租户商品 → 422。&lt;/Text&gt;&#13;&#10;                &lt;Text style={{ fontSize: 15, color: '#7B8AA3', marginTop: 'auto' }}&gt;对应验收：AGT-07 / AGT-08&lt;/Text&gt;&#13;&#10;            &lt;/Box&gt;&#13;&#10;            &lt;Box style={{ flex: 1, background: 'rgba(255,255,255,0.04)', border: '1px solid rgba(123,138,163,0.24)', borderRadius: 12, padding: 22, flexDirection: 'column', gap: 10 }}&gt;&#13;&#10;                &lt;Text style={{ fontSize: 22, fontWeight: '600', color: '#EAF0F8' }}&gt;失配即拒绝&lt;/Text&gt;&#13;&#10;                &lt;Text style={{ fontSize: 17, color: '#EAF0F8', lineHeight: 1.65 }}&gt;未配置模型时连通性测试返回 400，&lt;br /&gt;而不是静默返回一个假的成功。&lt;/Text&gt;&#13;&#10;                &lt;Text style={{ fontSize: 15, color: '#7B8AA3', marginTop: 'auto' }}&gt;对应验收：MOD-02&lt;/Text&gt;&#13;&#10;            &lt;/Box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5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一次请求的生命周期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106025" y="571500"/>
            <a:ext cx="1476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FLOW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鉴权收口位置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62000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2000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跨域中间件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62000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统一处理来源与预检，前端联调不额外开洞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2828925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981325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981325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解析凭证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981325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令牌换用户，且每次重新校验账号可用性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048250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200650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200650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解析租户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200650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工作区由成员关系决定，不信任请求体字段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267575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19975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19975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权限判断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419975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只读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操作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拥有者三档，越权直接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403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9486900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639300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639300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服务层事务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639300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业务规则与事务边界集中，请求结束自动关会话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2933700"/>
            <a:ext cx="3533775" cy="2971800"/>
          </a:xfrm>
          <a:prstGeom prst="roundRect">
            <a:avLst>
              <a:gd name="adj" fmla="val 3846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19150" y="314325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鉴权收口原则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9150" y="3495675"/>
            <a:ext cx="311467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路由与服务不直接信任请求体里的工作区编号。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越权在结构上不成立，而不是靠每处补校验。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AUTH-04 / AUTH-05 / SEC-02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333875" y="2933700"/>
            <a:ext cx="3524250" cy="2971800"/>
          </a:xfrm>
          <a:prstGeom prst="roundRect">
            <a:avLst>
              <a:gd name="adj" fmla="val 384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543425" y="314325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多租户隔离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543425" y="3495675"/>
            <a:ext cx="31051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路径工作区与会话工作区不一致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→ 403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上下文引用他租户商品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→ 422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543425" y="5524500"/>
            <a:ext cx="310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AGT-07 / AGT-08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8048625" y="2933700"/>
            <a:ext cx="3533775" cy="2971800"/>
          </a:xfrm>
          <a:prstGeom prst="roundRect">
            <a:avLst>
              <a:gd name="adj" fmla="val 384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258175" y="314325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失配即拒绝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258175" y="3495675"/>
            <a:ext cx="3114675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未配置模型时连通性测试返回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400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而不是静默返回一个假的成功。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258175" y="552450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MOD-02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51" name="" descr="&lt;Slide style={{ width: 1280, height: 720, background: '#0B1220', padding: '20px 64px', display: 'flex', flexDirection: 'column' }} notes={`第一项可控性设计：怎么保证模型不去乱动数据。&#13;&#10;&#13;&#10;大模型有个天然倾向——你给它一个目标，它会想办法完成，包括去访问它不该访问的数据。如果让模型直接连着数据库，那它生成什么查询、写到哪张表，你都控制不了。&#13;&#10;&#13;&#10;我的做法是加一个受控工具网关。模型能看到的不是数据库，而是一份工具清单。每个 Agent 有自己明确的白名单，白名单之外的工具调用直接拒绝。&#13;&#10;&#13;&#10;举个具体例子。库存运营 Agent 的白名单里允许读取商品、读取店铺、读取库存、生成库存建议草稿，以及一个叫&quot;库存调整&quot;的工具。但前面几个都是只读或草稿级别，风险等级低；只有&quot;库存调整&quot;会真正写流水，所以它被标成最高风险等级，而且限定只有拥有者能触发。&#13;&#10;&#13;&#10;还有一层是脱敏。密钥、令牌这类字段在进入模型上下文之前会被替换掉，截图和日志里也不会出现。&#13;&#10;&#13;&#10;右边这段就是白名单的实际形态。我想强调的是：**这不是提示词层面的约束，是代码层面的拒绝**。提示词可以被绕过，策略拒绝不会。`}&gt;&#13;&#10;    &lt;Box style={{ height: 100, flexDirection: 'row', justifyContent: 'space-between', alignItems: 'center', borderBottom: '1px solid rgba(123,138,163,0.24)' }}&gt;&#13;&#10;        &lt;Text style={{ fontSize: 36, fontWeight: 'bold', color: '#EAF0F8' }}&gt;可控性设计一 · 受控工具网关&lt;/Text&gt;&#13;&#10;        &lt;Text style={{ fontSize: 16, color: '#7B8AA3' }}&gt;CONTROL · 模型不直接操作数据&lt;/Text&gt;&#13;&#10;    &lt;/Box&gt;&#13;&#10;    &lt;Box style={{ height: 520, flexDirection: 'row', alignItems: 'center', gap: 24 }}&gt;&#13;&#10;        &lt;Box style={{ width: 604, height: 496, flexDirection: 'column', gap: 20 }}&gt;&#13;&#10;            &lt;Text style={{ fontSize: 20, fontWeight: '600', color: '#EAF0F8', lineHeight: 1.45 }}&gt;模型看到的不是数据库，而是按 Agent 划分的工具白名单&lt;/Text&gt;&#13;&#10;            &lt;Box style={{ flex: 1, flexDirection: 'column', gap: 16 }}&gt;&#13;&#10;                &lt;Box style={{ flex: 1, background: 'rgba(255,255,255,0.04)', border: '1px solid rgba(123,138,163,0.24)', borderRadius: 10, padding: 16, flexDirection: 'column', gap: 4 }}&gt;&#13;&#10;                    &lt;Text style={{ fontSize: 20, fontWeight: '600', color: '#EAF0F8' }}&gt;白名单外直接拒绝&lt;/Text&gt;&#13;&#10;                    &lt;Text style={{ fontSize: 15, color: '#7B8AA3', lineHeight: 1.45 }}&gt;越权调用抛策略异常。提示词可以被绕过，策略拒绝不会。&lt;/Text&gt;&#13;&#10;                &lt;/Box&gt;&#13;&#10;                &lt;Box style={{ flex: 1, background: 'rgba(255,255,255,0.04)', border: '1px solid rgba(123,138,163,0.24)', borderRadius: 10, padding: 16, flexDirection: 'column', gap: 4 }}&gt;&#13;&#10;                    &lt;Text style={{ fontSize: 20, fontWeight: '600', color: '#EAF0F8' }}&gt;风险分级决定谁来批&lt;/Text&gt;&#13;&#10;                    &lt;Text style={{ fontSize: 15, color: '#7B8AA3', lineHeight: 1.45 }}&gt;读操作零风险；草稿类一次审批；写业务数据须拥有者且必须审批。&lt;/Text&gt;&#13;&#10;                &lt;/Box&gt;&#13;&#10;                &lt;Box style={{ flex: 1, background: 'rgba(255,255,255,0.04)', border: '1px solid rgba(123,138,163,0.24)', borderRadius: 10, padding: 16, flexDirection: 'column', gap: 4 }}&gt;&#13;&#10;                    &lt;Text style={{ fontSize: 20, fontWeight: '600', color: '#EAF0F8' }}&gt;脱敏 + 幂等&lt;/Text&gt;&#13;&#10;                    &lt;Text style={{ fontSize: 15, color: '#7B8AA3', lineHeight: 1.45 }}&gt;密钥进入上下文前先替换；同一运行的重复调用只执行一次。&lt;/Text&gt;&#13;&#10;                &lt;/Box&gt;&#13;&#10;            &lt;/Box&gt;&#13;&#10;        &lt;/Box&gt;&#13;&#10;        &lt;Box style={{ width: 524, height: 496, background: 'rgba(255,255,255,0.04)', border: '1px solid rgba(123,138,163,0.24)', borderRadius: 12, padding: 20, flexDirection: 'column', gap: 10 }}&gt;&#13;&#10;            &lt;Text style={{ fontSize: 16, color: '#3370FF', fontWeight: '600' }}&gt;库存运营 Agent 的工具白名单&lt;/Text&gt;&#13;&#10;            &lt;Box style={{ height: 1, background: 'rgba(123,138,163,0.24)' }} /&gt;&#13;&#10;            &lt;Text style={{ fontSize: 14, color: '#7B8AA3', lineHeight: 1.75, fontFamily: &quot;'JetBrains Mono',Consolas,monospace&quot; }}&gt;&#13;&#10;                &lt;&gt;product.read        R0  读取商品&lt;br /&gt;store.read          R0  读取店铺&lt;br /&gt;inventory.read      R0  读取 SKU&lt;br /&gt;advice.draft        R1  生成建议草稿&lt;br /&gt;&lt;span style={{ color: '#3370FF', fontWeight: 'bold' }}&gt;inventory.adjust    R3  写库存流水&lt;/span&gt;&lt;/&gt;&#13;&#10;            &lt;/Text&gt;&#13;&#10;            &lt;Box style={{ height: 1, background: 'rgba(123,138,163,0.24)' }} /&gt;&#13;&#10;            &lt;Text style={{ fontSize: 14, color: '#7B8AA3', lineHeight: 1.75, fontFamily: &quot;'JetBrains Mono',Consolas,monospace&quot; }}&gt;&#13;&#10;                &lt;&gt;# inventory.adjust&lt;br /&gt;owner_only = True&lt;br /&gt;# 非拥有者 → allowed=False&lt;br /&gt;# 拥有者   → 需审批&lt;/&gt;&#13;&#10;            &lt;/Text&gt;&#13;&#10;            &lt;Box style={{ flex: 1 }} /&gt;&#13;&#10;            &lt;Box style={{ background: 'rgba(51,112,255,0.12)', border: '1px solid rgba(51,112,255,0.35)', borderRadius: 10, padding: 14 }}&gt;&#13;&#10;                &lt;Text style={{ fontSize: 15, color: '#EAF0F8', lineHeight: 1.5 }}&gt;提示词可以被绕过，&lt;br /&gt;策略层的拒绝不会。&lt;/Text&gt;&#13;&#10;            &lt;/Box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6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44767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可控性设计一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受控工具网关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344025" y="57150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CONTROL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模型不直接操作数据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5753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模型看到的不是数据库，而是按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划分的工具白名单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1781175"/>
            <a:ext cx="5753100" cy="1295400"/>
          </a:xfrm>
          <a:prstGeom prst="roundRect">
            <a:avLst>
              <a:gd name="adj" fmla="val 735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19335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白名单外直接拒绝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62000" y="220027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越权调用抛策略异常。提示词可以被绕过，策略拒绝不会。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3228975"/>
            <a:ext cx="5753100" cy="1304925"/>
          </a:xfrm>
          <a:prstGeom prst="roundRect">
            <a:avLst>
              <a:gd name="adj" fmla="val 729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62000" y="33813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风险分级决定谁来批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读操作零风险；草稿类一次审批；写业务数据须拥有者且必须审批。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4686300"/>
            <a:ext cx="5753100" cy="1295400"/>
          </a:xfrm>
          <a:prstGeom prst="roundRect">
            <a:avLst>
              <a:gd name="adj" fmla="val 735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脱敏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幂等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62000" y="5105400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密钥进入上下文前先替换；同一运行的重复调用只执行一次。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591300" y="1257300"/>
            <a:ext cx="4991100" cy="4724400"/>
          </a:xfrm>
          <a:prstGeom prst="roundRect">
            <a:avLst>
              <a:gd name="adj" fmla="val 241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781800" y="1447800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库存运营</a:t>
            </a:r>
            <a:r>
              <a:rPr lang="en-US" sz="12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的工具白名单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781800" y="1733550"/>
            <a:ext cx="4610100" cy="9525"/>
          </a:xfrm>
          <a:prstGeom prst="rect">
            <a:avLst/>
          </a:pr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781800" y="1838325"/>
            <a:ext cx="4610100" cy="14001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product.read        R0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读取商品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store.read          R0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读取店铺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inventory.read      R0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读取</a:t>
            </a: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 SKU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advice.draft        R1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生成建议草稿</a:t>
            </a:r>
            <a:endParaRPr/>
          </a:p>
          <a:p>
            <a:pPr>
              <a:lnSpc>
                <a:spcPct val="175000"/>
              </a:lnSpc>
            </a:pPr>
            <a:r>
              <a:rPr lang="en-US" sz="105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inventory.adjust    R3  </a:t>
            </a:r>
            <a:r>
              <a:rPr lang="zh-CN" sz="1050" b="1">
                <a:solidFill>
                  <a:srgbClr val="3370FF"/>
                </a:solidFill>
                <a:latin typeface="JetBrains Mono"/>
                <a:ea typeface="JetBrains Mono"/>
              </a:rPr>
              <a:t>写库存流水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781800" y="3333750"/>
            <a:ext cx="4610100" cy="9525"/>
          </a:xfrm>
          <a:prstGeom prst="rect">
            <a:avLst/>
          </a:pr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781800" y="3438525"/>
            <a:ext cx="4610100" cy="11239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># inventory.adjust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>owner_only = True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#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非拥有者</a:t>
            </a: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 → allowed=False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#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拥有者</a:t>
            </a: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   →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需审批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781800" y="5010150"/>
            <a:ext cx="4610100" cy="781050"/>
          </a:xfrm>
          <a:prstGeom prst="roundRect">
            <a:avLst>
              <a:gd name="adj" fmla="val 12195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915150" y="5143500"/>
            <a:ext cx="43434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AF0F8"/>
                </a:solidFill>
                <a:latin typeface="Microsoft YaHei"/>
                <a:ea typeface="Microsoft YaHei"/>
              </a:rPr>
              <a:t>提示词可以被绕过，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AF0F8"/>
                </a:solidFill>
                <a:latin typeface="Microsoft YaHei"/>
                <a:ea typeface="Microsoft YaHei"/>
              </a:rPr>
              <a:t>策略层的拒绝不会。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style={{ width: 1280, height: 720, background: '#0B1220', padding: '20px 64px', display: 'flex', flexDirection: 'column' }} notes={`第二项可控性设计，也是这套系统最有价值的部分：人工审批和断点恢复。&#13;&#10;&#13;&#10;一般的做法是，模型生成完，弹个窗问用户&quot;要不要采纳&quot;，用户点了才继续。问题是这个&quot;等一下&quot;是挂在内存里的。用户去开个会、过个夜，进程一重启或者超时，这条流程就没了，只能从头再跑一遍模型，时间成本和调用成本都浪费。&#13;&#10;&#13;&#10;我用的方案是把审批做成图里的一个中断节点。工作流跑到这里会主动停下来，并把当前状态整体持久化到检查点里。这时候内存里什么都不用留。人什么时候回来点都可以。&#13;&#10;&#13;&#10;人点通过之后，用同一个会话标识恢复，图从断点继续往下走，模型不会重新跑一遍。&#13;&#10;&#13;&#10;更关键的是最后一步：只有被批准的产物才会写进业务系统。人如果选择拒绝，或者只做了编辑后采纳，那么落库的是人改过的那一版，不是模型的原稿。&#13;&#10;&#13;&#10;右下角这四条是验收里实际跑出来的结果，不是我的设计意图——拒绝之后落库产物确实是空的，采纳之后落库的定位文案确实是我手工改过的那句。`}&gt;&#13;&#10;    &lt;Box style={{ height: 100, flexDirection: 'row', justifyContent: 'space-between', alignItems: 'center', borderBottom: '1px solid rgba(123,138,163,0.24)' }}&gt;&#13;&#10;        &lt;Text style={{ fontSize: 36, fontWeight: 'bold', color: '#EAF0F8' }}&gt;可控性设计二 · 人工审批与断点恢复&lt;/Text&gt;&#13;&#10;        &lt;Text style={{ fontSize: 16, color: '#7B8AA3' }}&gt;CHECKPOINT · 可跨时间恢复&lt;/Text&gt;&#13;&#10;    &lt;/Box&gt;&#13;&#10;    &lt;Box style={{ height: 520, flexDirection: 'column', gap: 20, paddingTop: 6 }}&gt;&#13;&#10;        &lt;Box style={{ height: 200, flexDirection: 'row', alignItems: 'center', gap: 32 }}&gt;&#13;&#10;            &lt;Text style={{ fontSize: 72, fontWeight: 'bold', color: '#3370FF', lineHeight: 1.0, fontFamily: &quot;'JetBrains Mono',Consolas,monospace&quot; }}&gt;interrupt&lt;/Text&gt;&#13;&#10;            &lt;Box style={{ flex: 1, flexDirection: 'column', gap: 10 }}&gt;&#13;&#10;                &lt;Text style={{ fontSize: 22, fontWeight: '600', color: '#EAF0F8', lineHeight: 1.4 }}&gt;审批不是弹窗阻塞内存，而是图里的一个持久化断点&lt;/Text&gt;&#13;&#10;                &lt;Text style={{ fontSize: 15, color: '#7B8AA3', lineHeight: 1.6 }}&gt;工作流停在审批门时整体状态写入检查点；隔天再审批也能用同一标识恢复，模型不重跑。&lt;/Text&gt;&#13;&#10;            &lt;/Box&gt;&#13;&#10;        &lt;/Box&gt;&#13;&#10;        &lt;Box style={{ height: 150, flexDirection: 'row', alignItems: 'center', gap: 16 }}&gt;&#13;&#10;            &lt;Box style={{ flex: 1, height: 96, background: 'rgba(255,255,255,0.04)', border: '1px solid rgba(123,138,163,0.24)', borderRadius: 10, padding: 16, flexDirection: 'column', justifyContent: 'center', gap: 6 }}&gt;&#13;&#10;                &lt;Text style={{ fontSize: 20, fontWeight: '600', color: '#EAF0F8' }}&gt;① 生成草稿&lt;/Text&gt;&#13;&#10;                &lt;Text style={{ fontSize: 15, color: '#7B8AA3', lineHeight: 1.5 }}&gt;诊断与创意方案以结构化 JSON 产出&lt;/Text&gt;&#13;&#10;            &lt;/Box&gt;&#13;&#10;            &lt;Text style={{ fontSize: 24, color: '#3370FF', fontWeight: 'bold' }}&gt;→&lt;/Text&gt;&#13;&#10;            &lt;Box style={{ flex: 1, height: 96, background: 'rgba(51,112,255,0.12)', border: '1px solid rgba(51,112,255,0.35)', borderRadius: 10, padding: 16, flexDirection: 'column', justifyContent: 'center', gap: 6 }}&gt;&#13;&#10;                &lt;Text style={{ fontSize: 20, fontWeight: '600', color: '#EAF0F8' }}&gt;② 停在审批门&lt;/Text&gt;&#13;&#10;                &lt;Text style={{ fontSize: 15, color: '#7B8AA3', lineHeight: 1.5 }}&gt;状态落检查点，等待人工决定&lt;/Text&gt;&#13;&#10;            &lt;/Box&gt;&#13;&#10;            &lt;Text style={{ fontSize: 24, color: '#3370FF', fontWeight: 'bold' }}&gt;→&lt;/Text&gt;&#13;&#10;            &lt;Box style={{ flex: 1, height: 96, background: 'rgba(255,255,255,0.04)', border: '1px solid rgba(123,138,163,0.24)', borderRadius: 10, padding: 16, flexDirection: 'column', justifyContent: 'center', gap: 6 }}&gt;&#13;&#10;                &lt;Text style={{ fontSize: 20, fontWeight: '600', color: '#EAF0F8' }}&gt;③ 同标识恢复&lt;/Text&gt;&#13;&#10;                &lt;Text style={{ fontSize: 15, color: '#7B8AA3', lineHeight: 1.5 }}&gt;从断点继续，不重新调用模型&lt;/Text&gt;&#13;&#10;            &lt;/Box&gt;&#13;&#10;            &lt;Text style={{ fontSize: 24, color: '#3370FF', fontWeight: 'bold' }}&gt;→&lt;/Text&gt;&#13;&#10;            &lt;Box style={{ flex: 1, height: 96, background: 'rgba(255,255,255,0.04)', border: '1px solid rgba(123,138,163,0.24)', borderRadius: 10, padding: 16, flexDirection: 'column', justifyContent: 'center', gap: 6 }}&gt;&#13;&#10;                &lt;Text style={{ fontSize: 20, fontWeight: '600', color: '#EAF0F8' }}&gt;④ 仅落已批准产物&lt;/Text&gt;&#13;&#10;                &lt;Text style={{ fontSize: 15, color: '#7B8AA3', lineHeight: 1.5 }}&gt;拒绝则不写库，编辑则写人工版本&lt;/Text&gt;&#13;&#10;            &lt;/Box&gt;&#13;&#10;        &lt;/Box&gt;&#13;&#10;        &lt;Box style={{ height: 110, flexDirection: 'column', gap: 8 }}&gt;&#13;&#10;            &lt;Text style={{ fontSize: 16, color: '#3370FF', fontWeight: '600' }}&gt;验收实测（脚本真实跑出的结果）&lt;/Text&gt;&#13;&#10;            &lt;Text style={{ fontSize: 14, color: '#EAF0F8', lineHeight: 1.7, fontFamily: &quot;'JetBrains Mono',Consolas,monospace&quot; }}&gt;&#13;&#10;                &lt;&gt;R2 工作流 首次 next=(approval_gate) → 批准后 completed，落库 1 次　|　人工拒绝 rejected，落库 None&lt;br /&gt;采纳编辑版 落库定位 = &quot;人工调整后的商品定位&quot;　|　质检不通过 quality_failed，落库 0 次&lt;/&gt;&#13;&#10;            &lt;/Text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7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55054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可控性设计二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人工审批与断点恢复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563100" y="571500"/>
            <a:ext cx="2019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CHECKPOINT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可跨时间恢复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1743075"/>
            <a:ext cx="34004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370FF"/>
                </a:solidFill>
                <a:latin typeface="JetBrains Mono"/>
                <a:ea typeface="JetBrains Mono"/>
              </a:rPr>
              <a:t>interrupt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314825" y="1790700"/>
            <a:ext cx="72675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审批不是弹窗阻塞内存，而是图里的一个持久化断点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314825" y="2238375"/>
            <a:ext cx="72675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工作流停在审批门时整体状态写入检查点；隔天再审批也能用同一标识恢复，模型不重跑。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生成草稿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62000" y="3895725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诊断与创意方案以结构化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产出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105150" y="3876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3370F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48615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638550" y="374332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停在审批门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638550" y="4029075"/>
            <a:ext cx="2038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状态落检查点，等待人工决定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981700" y="3876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3370F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36270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515100" y="374332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同标识恢复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515100" y="4029075"/>
            <a:ext cx="2038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从断点继续，不重新调用模型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858250" y="3876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3370F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923925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391650" y="360997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仅落已批准产物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391650" y="3895725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拒绝则不写库，编辑则写人工版本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49149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验收实测（脚本真实跑出的结果）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5181600"/>
            <a:ext cx="109728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R2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工作流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首次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next=(approval_gate) →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批准后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completed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，落库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1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次　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>|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　人工拒绝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rejected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，落库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None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采纳编辑版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落库定位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= "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人工调整后的商品定位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>"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>|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　质检不通过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quality_failed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，落库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0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次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 style={{ height: 720, width: 1280, background: '#0B1220', padding: '20px 64px', display: 'flex', flexDirection: 'column' }} notes={`第三项可控性设计：可靠执行。&#13;&#10;&#13;&#10;异步系统最怕两件事。第一件是消息丢了——任务创建成功，但派发的消息没发出去，业务数据里躺着一条永远不动的任务。第二件是消息重了——同样的消息被投递两次，于是同一条建议被执行两遍，库里的数据就脏了。&#13;&#10;&#13;&#10;我分三层来解。&#13;&#10;&#13;&#10;第一层是任务和执行分离，加上事务性发件箱。创建任务、创建执行记录、写入待派发事件，这三件事在同一个数据库事务里提交。要么都成功，要么都不成功。写进去之后，才是异步去派发。这样就不存在&quot;任务建了但消息没了&quot;的中间态。&#13;&#10;&#13;&#10;第二层是幂等。每次执行都会去申请一个租约，拿到租约的才能干活。如果同一个任务被重复投递，第二个请求发现租约已经被别人拿走了，它什么也不做。数据库层的状态判断再加上租约，重复消息就被吸收了。&#13;&#10;&#13;&#10;第三层是自愈。有一个维护任务每三十秒跑一次，扫描那些租约已经过期但状态还停在运行中的记录——这通常意味着执行它的进程崩了。维护任务会把它放回队列并递增尝试次数。&#13;&#10;&#13;&#10;验收里这两条是对着打的：任务和事件同事务写入，以及重复投递无法认领正在运行的执行。`}&gt;&#13;&#10;    &lt;Box style={{ height: 100, flexDirection: 'row', justifyContent: 'space-between', alignItems: 'center', borderBottom: '1px solid rgba(123,138,163,0.24)' }}&gt;&#13;&#10;        &lt;Text style={{ fontSize: 36, fontWeight: 'bold', color: '#EAF0F8' }}&gt;可控性设计三 · 消息不丢不重&lt;/Text&gt;&#13;&#10;        &lt;Text style={{ fontSize: 16, color: '#7B8AA3' }}&gt;RELIABILITY · 不丢 · 不重&lt;/Text&gt;&#13;&#10;    &lt;/Box&gt;&#13;&#10;    &lt;Box style={{ height: 520, flexDirection: 'column', gap: 20, paddingTop: 6 }}&gt;&#13;&#10;        &lt;Box style={{ height: 340, flexDirection: 'row', gap: 20 }}&gt;&#13;&#10;            &lt;Box style={{ flex: 1, background: 'rgba(51,112,255,0.12)', border: '1px solid rgba(51,112,255,0.35)', borderRadius: 12, padding: 22, flexDirection: 'column', gap: 12 }}&gt;&#13;&#10;                &lt;Text style={{ fontSize: 16, color: '#3370FF', fontWeight: '600' }}&gt;不丢&lt;/Text&gt;&#13;&#10;                &lt;Text style={{ fontSize: 22, fontWeight: '600', color: '#EAF0F8', lineHeight: 1.35 }}&gt;事务性发件箱&lt;/Text&gt;&#13;&#10;                &lt;Text style={{ fontSize: 16, color: '#EAF0F8', lineHeight: 1.6 }}&gt;任务、执行记录、待派发事件三者在同一个事务里提交。&lt;br /&gt;&lt;br /&gt;不存在&quot;业务记录建好了、派发消息却没发出去&quot;的中间状态；派发失败由维护任务重投。&lt;/Text&gt;&#13;&#10;                &lt;Text style={{ fontSize: 15, color: '#7B8AA3', marginTop: 'auto' }}&gt;对应验收：AGT-05&lt;/Text&gt;&#13;&#10;            &lt;/Box&gt;&#13;&#10;            &lt;Box style={{ flex: 1, background: 'rgba(255,255,255,0.04)', border: '1px solid rgba(123,138,163,0.24)', borderRadius: 12, padding: 22, flexDirection: 'column', gap: 12 }}&gt;&#13;&#10;                &lt;Text style={{ fontSize: 16, color: '#3370FF', fontWeight: '600' }}&gt;不重&lt;/Text&gt;&#13;&#10;                &lt;Text style={{ fontSize: 22, fontWeight: '600', color: '#EAF0F8', lineHeight: 1.35 }}&gt;幂等 + 租约隔离&lt;/Text&gt;&#13;&#10;                &lt;Text style={{ fontSize: 16, color: '#EAF0F8', lineHeight: 1.6 }}&gt;执行前先申请租约，拿到租约的才能推进。&lt;br /&gt;&lt;br /&gt;重复消息到达时发现目标已在运行中，直接放弃认领，不产生第二次副作用。&lt;/Text&gt;&#13;&#10;                &lt;Text style={{ fontSize: 15, color: '#7B8AA3', marginTop: 'auto' }}&gt;对应验收：重复投递无法认领&lt;/Text&gt;&#13;&#10;            &lt;/Box&gt;&#13;&#10;            &lt;Box style={{ flex: 1, background: 'rgba(255,255,255,0.04)', border: '1px solid rgba(123,138,163,0.24)', borderRadius: 12, padding: 22, flexDirection: 'column', gap: 12 }}&gt;&#13;&#10;                &lt;Text style={{ fontSize: 16, color: '#3370FF', fontWeight: '600' }}&gt;自愈&lt;/Text&gt;&#13;&#10;                &lt;Text style={{ fontSize: 22, fontWeight: '600', color: '#EAF0F8', lineHeight: 1.35 }}&gt;过期租约回收&lt;/Text&gt;&#13;&#10;                &lt;Text style={{ fontSize: 16, color: '#EAF0F8', lineHeight: 1.6 }}&gt;维护任务每 30 秒扫描一次：租约已过期但状态仍在运行中的记录，判定执行进程已挂。&lt;br /&gt;&lt;br /&gt;回收后回到队列并递增尝试次数，无需人工介入。&lt;/Text&gt;&#13;&#10;                &lt;Text style={{ fontSize: 15, color: '#7B8AA3', marginTop: 'auto' }}&gt;对应验收：过期租约恢复&lt;/Text&gt;&#13;&#10;            &lt;/Box&gt;&#13;&#10;        &lt;/Box&gt;&#13;&#10;        &lt;Box style={{ height: 136, background: 'rgba(255,255,255,0.04)', border: '1px solid rgba(123,138,163,0.24)', borderRadius: 12, padding: 20, flexDirection: 'row', alignItems: 'center', gap: 28 }}&gt;&#13;&#10;            &lt;Text style={{ fontSize: 56, fontWeight: 'bold', color: '#3370FF', lineHeight: 1.0, fontFamily: &quot;'JetBrains Mono',Consolas,monospace&quot; }}&gt;30s&lt;/Text&gt;&#13;&#10;            &lt;Box style={{ flex: 1, flexDirection: 'column', gap: 6 }}&gt;&#13;&#10;                &lt;Text style={{ fontSize: 20, fontWeight: '600', color: '#EAF0F8' }}&gt;维护任务的调度周期&lt;/Text&gt;&#13;&#10;                &lt;Text style={{ fontSize: 16, color: '#7B8AA3', lineHeight: 1.6 }}&gt;同一时刻只允许一个 worker 预取一个任务，避免耗时素材生成把后续任务长期占住；任务执行成功后才确认消息，worker 崩溃时由队列重投，配合数据库状态避免任务无声丢失。&lt;/Text&gt;&#13;&#10;            &lt;/Box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8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44767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可控性设计三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消息不丢不重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858375" y="5715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RELIABILITY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不丢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不重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1200150"/>
            <a:ext cx="3533775" cy="3238500"/>
          </a:xfrm>
          <a:prstGeom prst="roundRect">
            <a:avLst>
              <a:gd name="adj" fmla="val 3529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19150" y="14097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不丢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19150" y="1714500"/>
            <a:ext cx="3114675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事务性发件箱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19150" y="2171700"/>
            <a:ext cx="3114675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任务、执行记录、待派发事件三者在同一个事务里提交。</a:t>
            </a:r>
            <a:endParaRPr/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不存在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业务记录建好了、派发消息却没发出去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的中间状态；派发失败由维护任务重投。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19150" y="405765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AGT-05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333875" y="1200150"/>
            <a:ext cx="3524250" cy="3238500"/>
          </a:xfrm>
          <a:prstGeom prst="roundRect">
            <a:avLst>
              <a:gd name="adj" fmla="val 35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543425" y="140970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不重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543425" y="1714500"/>
            <a:ext cx="31051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幂等</a:t>
            </a:r>
            <a:r>
              <a:rPr lang="en-US" sz="165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租约隔离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543425" y="2171700"/>
            <a:ext cx="31051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执行前先申请租约，拿到租约的才能推进。</a:t>
            </a:r>
            <a:endParaRPr/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重复消息到达时发现目标已在运行中，直接放弃认领，不产生第二次副作用。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543425" y="4057650"/>
            <a:ext cx="310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对应验收：重复投递无法认领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8048625" y="1200150"/>
            <a:ext cx="3533775" cy="3238500"/>
          </a:xfrm>
          <a:prstGeom prst="roundRect">
            <a:avLst>
              <a:gd name="adj" fmla="val 35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258175" y="14097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自愈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258175" y="1714500"/>
            <a:ext cx="3114675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过期租约回收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258175" y="2171700"/>
            <a:ext cx="3114675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维护任务每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秒扫描一次：租约已过期但状态仍在运行中的记录，判定执行进程已挂。</a:t>
            </a:r>
            <a:endParaRPr/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回收后回到队列并递增尝试次数，无需人工介入。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258175" y="405765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对应验收：过期租约恢复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4629150"/>
            <a:ext cx="10972800" cy="1295400"/>
          </a:xfrm>
          <a:prstGeom prst="roundRect">
            <a:avLst>
              <a:gd name="adj" fmla="val 882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00100" y="4953000"/>
            <a:ext cx="8858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3370FF"/>
                </a:solidFill>
                <a:latin typeface="JetBrains Mono"/>
                <a:ea typeface="JetBrains Mono"/>
              </a:rPr>
              <a:t>30s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952625" y="4838700"/>
            <a:ext cx="943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维护任务的调度周期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952625" y="5124450"/>
            <a:ext cx="94392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同一时刻只允许一个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worker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预取一个任务，避免耗时素材生成把后续任务长期占住；任务执行成功后才确认消息，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worker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崩溃时由队列重投，配合数据库状态避免任务无声丢失。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29" name="" descr="&lt;Slide style={{ width: 1280, height: 720, background: '#0B1220', padding: '20px 64px', display: 'flex', flexDirection: 'column' }} notes={`这一页汇报我们在工程化上做的保障工作，这些决定了系统能不能长期稳定地用下去。&#13;&#10;&#13;&#10;左边这个二十三，是数据库迁移的版本数。二十三个版本全部按依赖关系编排好顺序，生产环境从空库到完整结构可以一条命令走完。&#13;&#10;&#13;&#10;右边三条是我们重点补齐的部分。&#13;&#10;&#13;&#10;第一条是前端的设计体系。原来的界面配色是散落的、每个页面各写各的，我参照飞书的设计规范抽出了一套设计令牌，然后把二十三个文件、大约两千一百处样式类名统一迁移过去。这件事本身不难，难在不能改坏。所以我写了一个前缀感知的迁移脚本，并且给它加了检查模式，可以挂到流水线上防回归。&#13;&#10;&#13;&#10;第二条是店铺删除。原来后端根本没有删除接口。我补了一个，但关键不是&quot;能删&quot;，而是删除的语义：删店铺的时候，把它名下的商品解除绑定，而不是把商品一起删掉。商品是运营资产，不能因为换了个店铺就丢。同时还要处理平台账号的关联记录，避免外键约束报错。&#13;&#10;&#13;&#10;第三条是接口分页补全。原来有几处接口只支持限制条数、不支持偏移量，也就是说翻不了页。我补齐了偏移量参数，和已有的接口对齐。&#13;&#10;&#13;&#10;这三件事都不算&quot;炫技&quot;，但都是让项目从&quot;能跑&quot;变成&quot;能用&quot;的部分。`}&gt;&#13;&#10;    &lt;Box style={{ height: 100, flexDirection: 'row', justifyContent: 'space-between', alignItems: 'center', borderBottom: '1px solid rgba(123,138,163,0.24)' }}&gt;&#13;&#10;        &lt;Text style={{ fontSize: 36, fontWeight: 'bold', color: '#EAF0F8' }}&gt;工程化保障&lt;/Text&gt;&#13;&#10;        &lt;Text style={{ fontSize: 16, color: '#7B8AA3' }}&gt;ENGINEERING · 从能跑到能用&lt;/Text&gt;&#13;&#10;    &lt;/Box&gt;&#13;&#10;    &lt;Box style={{ height: 520, flexDirection: 'row', alignItems: 'center', gap: 24 }}&gt;&#13;&#10;        &lt;Box style={{ width: 360, height: 496, background: 'rgba(51,112,255,0.12)', border: '1px solid rgba(51,112,255,0.35)', borderRadius: 16, padding: 26, flexDirection: 'column', justifyContent: 'center', gap: 14 }}&gt;&#13;&#10;            &lt;Text style={{ fontSize: 110, fontWeight: 'bold', color: '#3370FF', lineHeight: 1.0, fontFamily: &quot;'JetBrains Mono',Consolas,monospace&quot; }}&gt;23&lt;/Text&gt;&#13;&#10;            &lt;Text style={{ fontSize: 22, fontWeight: '600', color: '#EAF0F8' }}&gt;个数据库迁移版本&lt;/Text&gt;&#13;&#10;            &lt;Box style={{ height: 1, background: 'rgba(51,112,255,0.35)' }} /&gt;&#13;&#10;            &lt;Text style={{ fontSize: 16, color: '#EAF0F8', lineHeight: 1.65 }}&gt;顺序按依赖关系编排，&lt;br /&gt;生产从空库到完整结构一条命令走完；&lt;br /&gt;本地开发与自动化测试共用同一套模型定义。&lt;/Text&gt;&#13;&#10;        &lt;/Box&gt;&#13;&#10;        &lt;Box style={{ width: 768, height: 496, flexDirection: 'column', gap: 18 }}&gt;&#13;&#10;            &lt;Box style={{ height: 140, background: 'rgba(255,255,255,0.04)', border: '1px solid rgba(123,138,163,0.24)', borderRadius: 12, padding: 20, flexDirection: 'row', alignItems: 'center', gap: 24 }}&gt;&#13;&#10;                &lt;Text style={{ fontSize: 28, fontWeight: 'bold', color: '#3370FF', width: 300, fontFamily: &quot;'JetBrains Mono',Consolas,monospace&quot; }}&gt;23 文件 / 2100 处&lt;/Text&gt;&#13;&#10;                &lt;Text style={{ flex: 1, fontSize: 16, color: '#EAF0F8', lineHeight: 1.6 }}&gt;前端设计令牌统一迁移&lt;br /&gt;&lt;span style={{ color: '#7B8AA3' }}&gt;抽出品牌色、文字层次、线面与状态色令牌，替换散落的旧配色与圆角；配套检查模式防止回归。&lt;/span&gt;&lt;/Text&gt;&#13;&#10;            &lt;/Box&gt;&#13;&#10;            &lt;Box style={{ height: 140, background: 'rgba(255,255,255,0.04)', border: '1px solid rgba(123,138,163,0.24)', borderRadius: 12, padding: 20, flexDirection: 'row', alignItems: 'center', gap: 24 }}&gt;&#13;&#10;                &lt;Text style={{ fontSize: 28, fontWeight: 'bold', color: '#3370FF', width: 300 }}&gt;店铺删除语义&lt;/Text&gt;&#13;&#10;                &lt;Text style={{ flex: 1, fontSize: 16, color: '#EAF0F8', lineHeight: 1.6 }}&gt;自研新增的删除接口&lt;br /&gt;&lt;span style={{ color: '#7B8AA3' }}&gt;删店铺时把商品解除绑定保留下来，而不是级联删商品；同时清理平台账号关联记录，规避外键冲突。&lt;/span&gt;&lt;/Text&gt;&#13;&#10;            &lt;/Box&gt;&#13;&#10;            &lt;Box style={{ height: 140, background: 'rgba(255,255,255,0.04)', border: '1px solid rgba(123,138,163,0.24)', borderRadius: 12, padding: 20, flexDirection: 'row', alignItems: 'center', gap: 24 }}&gt;&#13;&#10;                &lt;Text style={{ fontSize: 28, fontWeight: 'bold', color: '#3370FF', width: 300, fontFamily: &quot;'JetBrains Mono',Consolas,monospace&quot; }}&gt;offset 补全&lt;/Text&gt;&#13;&#10;                &lt;Text style={{ flex: 1, fontSize: 16, color: '#EAF0F8', lineHeight: 1.6 }}&gt;列表接口分页对齐&lt;br /&gt;&lt;span style={{ color: '#7B8AA3' }}&gt;原来多处只支持条数限制无法深翻页，补齐偏移量参数并与已有接口保持一致。&lt;/span&gt;&lt;/Text&gt;&#13;&#10;            &lt;/Box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09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714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工程化保障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496425" y="571500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ENGINEERING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从能跑到能用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1257300"/>
            <a:ext cx="3429000" cy="4724400"/>
          </a:xfrm>
          <a:prstGeom prst="roundRect">
            <a:avLst>
              <a:gd name="adj" fmla="val 4444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57250" y="2057400"/>
            <a:ext cx="29337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3370FF"/>
                </a:solidFill>
                <a:latin typeface="JetBrains Mono"/>
                <a:ea typeface="JetBrains Mono"/>
              </a:rPr>
              <a:t>23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57250" y="34480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个数据库迁移版本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857250" y="3838575"/>
            <a:ext cx="2933700" cy="9525"/>
          </a:xfrm>
          <a:prstGeom prst="rect">
            <a:avLst/>
          </a:prstGeom>
          <a:solidFill>
            <a:srgbClr val="3370FF">
              <a:alpha val="35000"/>
            </a:srgbClr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57250" y="3981450"/>
            <a:ext cx="29337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顺序按依赖关系编排，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生产从空库到完整结构一条命令走完；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本地开发与自动化测试共用同一套模型定义。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267200" y="1257300"/>
            <a:ext cx="73152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457700" y="176212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23 </a:t>
            </a:r>
            <a:r>
              <a:rPr lang="zh-CN" sz="2100" b="1">
                <a:solidFill>
                  <a:srgbClr val="3370FF"/>
                </a:solidFill>
                <a:latin typeface="JetBrains Mono"/>
                <a:ea typeface="JetBrains Mono"/>
              </a:rPr>
              <a:t>文件</a:t>
            </a: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 / 2100 </a:t>
            </a:r>
            <a:r>
              <a:rPr lang="zh-CN" sz="2100" b="1">
                <a:solidFill>
                  <a:srgbClr val="3370FF"/>
                </a:solidFill>
                <a:latin typeface="JetBrains Mono"/>
                <a:ea typeface="JetBrains Mono"/>
              </a:rPr>
              <a:t>处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543800" y="1485900"/>
            <a:ext cx="38481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前端设计令牌统一迁移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抽出品牌色、文字层次、线面与状态色令牌，替换散落的旧配色与圆角；配套检查模式防止回归。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267200" y="2762250"/>
            <a:ext cx="73152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457700" y="326707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店铺删除语义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543800" y="2990850"/>
            <a:ext cx="38481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自研新增的删除接口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删店铺时把商品解除绑定保留下来，而不是级联删商品；同时清理平台账号关联记录，规避外键冲突。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267200" y="4267200"/>
            <a:ext cx="73152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457700" y="477202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offset </a:t>
            </a:r>
            <a:r>
              <a:rPr lang="zh-CN" sz="2100" b="1">
                <a:solidFill>
                  <a:srgbClr val="3370FF"/>
                </a:solidFill>
                <a:latin typeface="JetBrains Mono"/>
                <a:ea typeface="JetBrains Mono"/>
              </a:rPr>
              <a:t>补全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543800" y="4495800"/>
            <a:ext cx="38481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列表接口分页对齐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原来多处只支持条数限制无法深翻页，补齐偏移量参数并与已有接口保持一致。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#0B1220', padding: '20px 64px', display: 'flex', flexDirection: 'column' }} notes={`下面讲验收怎么做。这是我们认为这套系统区别于一般演示项目的地方。&#13;&#10;&#13;&#10;我没有用&quot;我手动点了几个接口、看起来没问题&quot;这种验收方式，而是把它写成了一个可执行的脚本。脚本拉起来以后，会自动建表、建账号、登录、建店铺商品库存、走完 AI 链路、创建 Agent 任务、把安全边界一条条打一遍，最后再跑一遍全量回归测试。&#13;&#10;&#13;&#10;一共五十八项用例，分九组。横轴这根条的长度就是这一组的用例数量。&#13;&#10;&#13;&#10;数量分布上，最重的是多 Agent 那一组，十四项，因为那是核心技术点。其次是店铺商品库存十项，那是业务主链路。认证七项、模型与素材六项、环境基线五项、竞品经营五项、推广投放四项、安全边界四项、交付回归三项。&#13;&#10;&#13;&#10;判定标准也很硬：只要有任何一项失败，整体就判不通过。脚本的退出码就是结论——零是通过，一是有失败，二是脚本自己坏了。&#13;&#10;&#13;&#10;这套东西的价值在于可复现。因为我把外部依赖全部隔离开了：数据库用临时文件、队列用进程内模式、模型密钥清空，所以任何一台机器上跑出来的结论都一样。`}&gt;&#13;&#10;    &lt;Box style={{ height: 100, flexDirection: 'row', justifyContent: 'space-between', alignItems: 'center', borderBottom: '1px solid rgba(123,138,163,0.24)' }}&gt;&#13;&#10;        &lt;Text style={{ fontSize: 36, fontWeight: 'bold', color: '#EAF0F8' }}&gt;验收方法&lt;/Text&gt;&#13;&#10;        &lt;Text style={{ fontSize: 16, color: '#7B8AA3' }}&gt;58 项 · 9 组 · 退出码判定&lt;/Text&gt;&#13;&#10;    &lt;/Box&gt;&#13;&#10;    &lt;Box style={{ height: 520, flexDirection: 'column', gap: 8, paddingTop: 2 }}&gt;&#13;&#10;        &lt;Box style={{ height: 44, flexDirection: 'row', alignItems: 'center', gap: 16 }}&gt;&#13;&#10;            &lt;Text style={{ fontSize: 17, color: '#3370FF', fontWeight: '600', width: 300 }}&gt;S6 多 Agent 编排&lt;/Text&gt;&#13;&#10;            &lt;Box style={{ flex: 1, height: 18, background: 'rgba(255,255,255,0.04)', borderRadius: 9 }}&gt;&lt;Box style={{ width: 420, height: 18, background: '#3370FF', borderRadius: 9 }} /&gt;&lt;/Box&gt;&#13;&#10;            &lt;Text style={{ fontSize: 17, color: '#EAF0F8', width: 60, textAlign: 'right', fontFamily: &quot;'JetBrains Mono',Consolas,monospace&quot; }}&gt;14&lt;/Text&gt;&#13;&#10;        &lt;/Box&gt;&#13;&#10;        &lt;Box style={{ height: 44, flexDirection: 'row', alignItems: 'center', gap: 16 }}&gt;&#13;&#10;            &lt;Text style={{ fontSize: 17, color: '#EAF0F8', width: 300 }}&gt;S2 店铺 · 商品 · 库存&lt;/Text&gt;&#13;&#10;            &lt;Box style={{ flex: 1, height: 18, background: 'rgba(255,255,255,0.04)', borderRadius: 9 }}&gt;&lt;Box style={{ width: 300, height: 18, background: '#3370FF', borderRadius: 9, opacity: 0.85 }} /&gt;&lt;/Box&gt;&#13;&#10;            &lt;Text style={{ fontSize: 17, color: '#EAF0F8', width: 60, textAlign: 'right', fontFamily: &quot;'JetBrains Mono',Consolas,monospace&quot; }}&gt;10&lt;/Text&gt;&#13;&#10;        &lt;/Box&gt;&#13;&#10;        &lt;Box style={{ height: 44, flexDirection: 'row', alignItems: 'center', gap: 16 }}&gt;&#13;&#10;            &lt;Text style={{ fontSize: 17, color: '#EAF0F8', width: 300 }}&gt;S1 认证与会话&lt;/Text&gt;&#13;&#10;            &lt;Box style={{ flex: 1, height: 18, background: 'rgba(255,255,255,0.04)', borderRadius: 9 }}&gt;&lt;Box style={{ width: 210, height: 18, background: '#3370FF', borderRadius: 9, opacity: 0.75 }} /&gt;&lt;/Box&gt;&#13;&#10;            &lt;Text style={{ fontSize: 17, color: '#EAF0F8', width: 60, textAlign: 'right', fontFamily: &quot;'JetBrains Mono',Consolas,monospace&quot; }}&gt;7&lt;/Text&gt;&#13;&#10;        &lt;/Box&gt;&#13;&#10;        &lt;Box style={{ height: 44, flexDirection: 'row', alignItems: 'center', gap: 16 }}&gt;&#13;&#10;            &lt;Text style={{ fontSize: 17, color: '#EAF0F8', width: 300 }}&gt;S5 模型配置 · AI 素材&lt;/Text&gt;&#13;&#10;            &lt;Box style={{ flex: 1, height: 18, background: 'rgba(255,255,255,0.04)', borderRadius: 9 }}&gt;&lt;Box style={{ width: 180, height: 18, background: '#3370FF', borderRadius: 9, opacity: 0.7 }} /&gt;&lt;/Box&gt;&#13;&#10;            &lt;Text style={{ fontSize: 17, color: '#EAF0F8', width: 60, textAlign: 'right', fontFamily: &quot;'JetBrains Mono',Consolas,monospace&quot; }}&gt;6&lt;/Text&gt;&#13;&#10;        &lt;/Box&gt;&#13;&#10;        &lt;Box style={{ height: 44, flexDirection: 'row', alignItems: 'center', gap: 16 }}&gt;&#13;&#10;            &lt;Text style={{ fontSize: 17, color: '#EAF0F8', width: 300 }}&gt;S0 环境与工程基线&lt;/Text&gt;&#13;&#10;            &lt;Box style={{ flex: 1, height: 18, background: 'rgba(255,255,255,0.04)', borderRadius: 9 }}&gt;&lt;Box style={{ width: 150, height: 18, background: '#3370FF', borderRadius: 9, opacity: 0.65 }} /&gt;&lt;/Box&gt;&#13;&#10;            &lt;Text style={{ fontSize: 17, color: '#EAF0F8', width: 60, textAlign: 'right', fontFamily: &quot;'JetBrains Mono',Consolas,monospace&quot; }}&gt;5&lt;/Text&gt;&#13;&#10;        &lt;/Box&gt;&#13;&#10;        &lt;Box style={{ height: 44, flexDirection: 'row', alignItems: 'center', gap: 16 }}&gt;&#13;&#10;            &lt;Text style={{ fontSize: 17, color: '#EAF0F8', width: 300 }}&gt;S3 竞品监控 · 经营复盘&lt;/Text&gt;&#13;&#10;            &lt;Box style={{ flex: 1, height: 18, background: 'rgba(255,255,255,0.04)', borderRadius: 9 }}&gt;&lt;Box style={{ width: 150, height: 18, background: '#3370FF', borderRadius: 9, opacity: 0.65 }} /&gt;&lt;/Box&gt;&#13;&#10;            &lt;Text style={{ fontSize: 17, color: '#EAF0F8', width: 60, textAlign: 'right', fontFamily: &quot;'JetBrains Mono',Consolas,monospace&quot; }}&gt;5&lt;/Text&gt;&#13;&#10;        &lt;/Box&gt;&#13;&#10;        &lt;Box style={{ height: 44, flexDirection: 'row', alignItems: 'center', gap: 16 }}&gt;&#13;&#10;            &lt;Text style={{ fontSize: 17, color: '#EAF0F8', width: 300 }}&gt;S4 推广链接 · 投放实验&lt;/Text&gt;&#13;&#10;            &lt;Box style={{ flex: 1, height: 18, background: 'rgba(255,255,255,0.04)', borderRadius: 9 }}&gt;&lt;Box style={{ width: 120, height: 18, background: '#3370FF', borderRadius: 9, opacity: 0.6 }} /&gt;&lt;/Box&gt;&#13;&#10;            &lt;Text style={{ fontSize: 17, color: '#EAF0F8', width: 60, textAlign: 'right', fontFamily: &quot;'JetBrains Mono',Consolas,monospace&quot; }}&gt;4&lt;/Text&gt;&#13;&#10;        &lt;/Box&gt;&#13;&#10;        &lt;Box style={{ height: 44, flexDirection: 'row', alignItems: 'center', gap: 16 }}&gt;&#13;&#10;            &lt;Text style={{ fontSize: 17, color: '#EAF0F8', width: 300 }}&gt;S7 权限与安全边界&lt;/Text&gt;&#13;&#10;            &lt;Box style={{ flex: 1, height: 18, background: 'rgba(255,255,255,0.04)', borderRadius: 9 }}&gt;&lt;Box style={{ width: 120, height: 18, background: '#3370FF', borderRadius: 9, opacity: 0.6 }} /&gt;&lt;/Box&gt;&#13;&#10;            &lt;Text style={{ fontSize: 17, color: '#EAF0F8', width: 60, textAlign: 'right', fontFamily: &quot;'JetBrains Mono',Consolas,monospace&quot; }}&gt;4&lt;/Text&gt;&#13;&#10;        &lt;/Box&gt;&#13;&#10;        &lt;Box style={{ height: 44, flexDirection: 'row', alignItems: 'center', gap: 16 }}&gt;&#13;&#10;            &lt;Text style={{ fontSize: 17, color: '#EAF0F8', width: 300 }}&gt;S8 交付与回归&lt;/Text&gt;&#13;&#10;            &lt;Box style={{ flex: 1, height: 18, background: 'rgba(255,255,255,0.04)', borderRadius: 9 }}&gt;&lt;Box style={{ width: 90, height: 18, background: '#3370FF', borderRadius: 9, opacity: 0.55 }} /&gt;&lt;/Box&gt;&#13;&#10;            &lt;Text style={{ fontSize: 17, color: '#EAF0F8', width: 60, textAlign: 'right', fontFamily: &quot;'JetBrains Mono',Consolas,monospace&quot; }}&gt;3&lt;/Text&gt;&#13;&#10;        &lt;/Box&gt;&#13;&#10;        &lt;Box style={{ height: 44, flexDirection: 'row', alignItems: 'center', gap: 16 }}&gt;&#13;&#10;            &lt;Text style={{ fontSize: 16, color: '#7B8AA3', width: 300 }}&gt;通过门槛&lt;/Text&gt;&#13;&#10;            &lt;Text style={{ flex: 1, fontSize: 16, color: '#EAF0F8' }}&gt;FAIL 必须为 0；退出码 0 = 通过，1 = 有失败，2 = 脚本异常&lt;/Text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10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验收方法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896475" y="571500"/>
            <a:ext cx="1685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项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9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组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退出码判定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S6 </a:t>
            </a:r>
            <a:r>
              <a:rPr lang="zh-CN" sz="1275" b="1">
                <a:solidFill>
                  <a:srgbClr val="3370FF"/>
                </a:solidFill>
                <a:latin typeface="Microsoft YaHei"/>
                <a:ea typeface="Microsoft YaHei"/>
              </a:rPr>
              <a:t>多</a:t>
            </a:r>
            <a:r>
              <a:rPr lang="en-US" sz="1275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 b="1">
                <a:solidFill>
                  <a:srgbClr val="3370FF"/>
                </a:solidFill>
                <a:latin typeface="Microsoft YaHei"/>
                <a:ea typeface="Microsoft YaHei"/>
              </a:rPr>
              <a:t>编排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619500" y="12858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3619500" y="1285875"/>
            <a:ext cx="4000500" cy="171450"/>
          </a:xfrm>
          <a:prstGeom prst="roundRect">
            <a:avLst>
              <a:gd name="adj" fmla="val 50000"/>
            </a:avLst>
          </a:prstGeom>
          <a:solidFill>
            <a:srgbClr val="3370FF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010900" y="12763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14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S2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店铺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商品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库存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619500" y="17811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010900" y="17716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10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22669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S1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认证与会话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3619500" y="22764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010900" y="22669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27622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S5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模型配置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素材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619500" y="27717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010900" y="27622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32575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S0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环境与工程基线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619500" y="32670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010900" y="32575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S3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竞品监控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经营复盘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619500" y="37623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010900" y="37528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42481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S4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推广链接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投放实验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619500" y="42576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010900" y="42481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47434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S7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权限与安全边界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3619500" y="47529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010900" y="47434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52387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S8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交付与回归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619500" y="52482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010900" y="52387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573405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通过门槛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619500" y="5734050"/>
            <a:ext cx="796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FAIL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必须为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；退出码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0 =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通过，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1 =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有失败，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2 =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脚本异常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619500" y="1781175"/>
            <a:ext cx="28575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85000"/>
            </a:srgbClr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3619500" y="2276475"/>
            <a:ext cx="20002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75000"/>
            </a:srgbClr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3619500" y="2771775"/>
            <a:ext cx="17145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70000"/>
            </a:srgbClr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3619500" y="3267075"/>
            <a:ext cx="14287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5000"/>
            </a:srgbClr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3619500" y="3762375"/>
            <a:ext cx="14287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5000"/>
            </a:srgbClr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3619500" y="4257675"/>
            <a:ext cx="11430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0000"/>
            </a:srgbClr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3619500" y="4752975"/>
            <a:ext cx="11430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0000"/>
            </a:srgbClr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3619500" y="5248275"/>
            <a:ext cx="8572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55000"/>
            </a:srgbClr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style={{ width: 1280, height: 720, background: '#0B1220', padding: '20px 64px', display: 'flex', flexDirection: 'column' }} notes={`这是验收结果页。三个数字。&#13;&#10;&#13;&#10;第一个是五十八——五十八项用例,全部通过,失败零项,跳过零项。通过率百分之百。整个脚本跑完用时四十三秒。&#13;&#10;&#13;&#10;我要强调一下这里的&quot;跳过零项&quot;。因为我在设计脚本的时候留了一个后门:某些项在不具备条件的时候可以标记为跳过,比如在线模式下不方便直接读对端的数据库。但最终跑出来跳过是零,意味着五十八项全部拿到了实际证据,没有一项是靠&quot;跳过&quot;蒙过去的。&#13;&#10;&#13;&#10;第二个数字是回归测试:一百一十七条单元与集成测试全部通过,零失败零错误,用时五秒三。测试文件一共二十八个。&#13;&#10;&#13;&#10;第三个是四十——这是跑完整个验收的耗时,四十三秒左右。也就是说,任何人拿到这个项目,一条命令,四十多秒就能自己复核我的全部结论。&#13;&#10;&#13;&#10;我不想用&quot;功能基本完成&quot;这种话。我想说的是:这些数字是可以被复现的,你可以在自己机器上跑一遍,结果应该完全一样。`}&gt;&#13;&#10;    &lt;Box style={{ height: 100, flexDirection: 'row', justifyContent: 'space-between', alignItems: 'center', borderBottom: '1px solid rgba(123,138,163,0.24)' }}&gt;&#13;&#10;        &lt;Text style={{ fontSize: 36, fontWeight: 'bold', color: '#EAF0F8' }}&gt;验收结果&lt;/Text&gt;&#13;&#10;        &lt;Text style={{ fontSize: 16, color: '#7B8AA3' }}&gt;RESULT · 全部通过&lt;/Text&gt;&#13;&#10;    &lt;/Box&gt;&#13;&#10;    &lt;Box style={{ height: 520, flexDirection: 'column', gap: 20, paddingTop: 10 }}&gt;&#13;&#10;        &lt;Box style={{ height: 300, flexDirection: 'row', gap: 20 }}&gt;&#13;&#10;            &lt;Box style={{ flex: 1, background: 'rgba(51,112,255,0.12)', border: '1px solid rgba(51,112,255,0.35)', borderRadius: 16, padding: 24, flexDirection: 'column', justifyContent: 'center', gap: 10 }}&gt;&#13;&#10;                &lt;Text style={{ fontSize: 96, fontWeight: 'bold', color: '#3370FF', lineHeight: 1.0, fontFamily: &quot;'JetBrains Mono',Consolas,monospace&quot; }}&gt;58&lt;/Text&gt;&#13;&#10;                &lt;Text style={{ fontSize: 22, fontWeight: '600', color: '#EAF0F8' }}&gt;项验收用例全部通过&lt;/Text&gt;&#13;&#10;                &lt;Text style={{ fontSize: 16, color: '#7B8AA3', lineHeight: 1.5 }}&gt;FAIL 0 · SKIP 0 · PASS 58&lt;/Text&gt;&#13;&#10;            &lt;/Box&gt;&#13;&#10;            &lt;Box style={{ flex: 1, background: 'rgba(255,255,255,0.04)', border: '1px solid rgba(123,138,163,0.24)', borderRadius: 16, padding: 24, flexDirection: 'column', justifyContent: 'center', gap: 10 }}&gt;&#13;&#10;                &lt;Text style={{ fontSize: 96, fontWeight: 'bold', color: '#EAF0F8', lineHeight: 1.0, fontFamily: &quot;'JetBrains Mono',Consolas,monospace&quot; }}&gt;117&lt;/Text&gt;&#13;&#10;                &lt;Text style={{ fontSize: 22, fontWeight: '600', color: '#EAF0F8' }}&gt;条回归测试全绿&lt;/Text&gt;&#13;&#10;                &lt;Text style={{ fontSize: 16, color: '#7B8AA3', lineHeight: 1.5 }}&gt;0 failed · 0 error · 5.33s&lt;/Text&gt;&#13;&#10;            &lt;/Box&gt;&#13;&#10;            &lt;Box style={{ flex: 1, background: 'rgba(255,255,255,0.04)', border: '1px solid rgba(123,138,163,0.24)', borderRadius: 16, padding: 24, flexDirection: 'column', justifyContent: 'center', gap: 10 }}&gt;&#13;&#10;                &lt;Text style={{ fontSize: 96, fontWeight: 'bold', color: '#EAF0F8', lineHeight: 1.0, fontFamily: &quot;'JetBrains Mono',Consolas,monospace&quot; }}&gt;100%&lt;/Text&gt;&#13;&#10;                &lt;Text style={{ fontSize: 22, fontWeight: '600', color: '#EAF0F8' }}&gt;通过率&lt;/Text&gt;&#13;&#10;                &lt;Text style={{ fontSize: 16, color: '#7B8AA3', lineHeight: 1.5 }}&gt;全程耗时 43.1 秒 · 退出码 0&lt;/Text&gt;&#13;&#10;            &lt;/Box&gt;&#13;&#10;        &lt;/Box&gt;&#13;&#10;        &lt;Box style={{ height: 176, background: 'rgba(255,255,255,0.04)', border: '1px solid rgba(123,138,163,0.24)', borderRadius: 12, padding: 22, flexDirection: 'column', gap: 10 }}&gt;&#13;&#10;            &lt;Text style={{ fontSize: 20, fontWeight: '600', color: '#EAF0F8' }}&gt;为什么&quot;跳过 0 项&quot;值得说&lt;/Text&gt;&#13;&#10;            &lt;Text style={{ fontSize: 17, color: '#EAF0F8', lineHeight: 1.7 }}&gt;脚本允许在条件不满足时标记跳过，但最终没有任何一项走这条退路——&lt;br /&gt;58 项全部拿到了实测证据。结论不是&quot;功能基本完成&quot;，而是&lt;Text style={{ color: '#3370FF', fontWeight: 'bold' }}&gt;可复现&lt;/Text&gt;：换一台机器跑同一条命令，结果完全一致。&lt;/Text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11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验收结果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296525" y="571500"/>
            <a:ext cx="128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RESULT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全部通过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1238250"/>
            <a:ext cx="3533775" cy="2857500"/>
          </a:xfrm>
          <a:prstGeom prst="roundRect">
            <a:avLst>
              <a:gd name="adj" fmla="val 5333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3076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3370FF"/>
                </a:solidFill>
                <a:latin typeface="JetBrains Mono"/>
                <a:ea typeface="JetBrains Mono"/>
              </a:rPr>
              <a:t>58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8200" y="2952750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项验收用例全部通过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8200" y="3305175"/>
            <a:ext cx="30765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FAIL 0 · SKIP 0 · PASS 58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333875" y="1238250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562475" y="1752600"/>
            <a:ext cx="30670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AF0F8"/>
                </a:solidFill>
                <a:latin typeface="JetBrains Mono"/>
                <a:ea typeface="JetBrains Mono"/>
              </a:rPr>
              <a:t>117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562475" y="2952750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条回归测试全绿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62475" y="3305175"/>
            <a:ext cx="3067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0 failed · 0 error · 5.33s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8048625" y="1238250"/>
            <a:ext cx="3533775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277225" y="1752600"/>
            <a:ext cx="3076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AF0F8"/>
                </a:solidFill>
                <a:latin typeface="JetBrains Mono"/>
                <a:ea typeface="JetBrains Mono"/>
              </a:rPr>
              <a:t>100%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277225" y="2952750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通过率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277225" y="3305175"/>
            <a:ext cx="30765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全程耗时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43.1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秒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退出码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428625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1055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为什么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跳过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项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值得说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19150" y="4819650"/>
            <a:ext cx="105537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脚本允许在条件不满足时标记跳过，但最终没有任何一项走这条退路——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项全部拿到了实测证据。结论不是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功能基本完成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，而是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可复现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：换一台机器跑同一条命令，结果完全一致。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9" name="" descr="&lt;Slide style={{ width: 1280, height: 720, background: '#0B1220', padding: '20px 64px', display: 'flex', flexDirection: 'column' }} notes={`这一页我挑了四条最有说服力的证据，全部是脚本真实跑出来的输出，没有一条是我概括的。&#13;&#10;&#13;&#10;第一条，一条高风险工作流被触发之后，第一次执行停在审批门上，图的下一个节点就是审批门；人批准之后，流程走完，状态是完成，并且业务产物只落库了一次。这条证明的是&quot;停得下来、恢复得回去、而且不重复落库&quot;。&#13;&#10;&#13;&#10;第二条，同样是这条流程，人选择拒绝。结果是流程状态变成已拒绝，落库产物是空的。这条证明的是&quot;拒绝不是装饰，是真的什么都没写进去&quot;。&#13;&#10;&#13;&#10;第三条，人不是直接批准，而是改了文案之后采纳。落库的那条定位文案，是我在审批时手工改的那一句，不是模型原稿。这条证明的是&quot;人有机会真正修正模型输出，而且修正会生效&quot;。&#13;&#10;&#13;&#10;第四条，质量校验不通过。流程状态变成质检失败，落库零次。这条证明的是&quot;质量门是硬门，过不去就不放行&quot;。&#13;&#10;&#13;&#10;我把这四条放在一起，是因为它们构成了一个完整的闭环:能停、能拒、能改、能拦。这四点都成立，才谈得上&quot;把 AI 放进生产流程&quot;。`}&gt;&#13;&#10;    &lt;Box style={{ height: 100, flexDirection: 'row', justifyContent: 'space-between', alignItems: 'center', borderBottom: '1px solid rgba(123,138,163,0.24)' }}&gt;&#13;&#10;        &lt;Text style={{ fontSize: 36, fontWeight: 'bold', color: '#EAF0F8' }}&gt;关键证据 · 四条实测输出&lt;/Text&gt;&#13;&#10;        &lt;Text style={{ fontSize: 16, color: '#7B8AA3' }}&gt;EVIDENCE · 能停 · 能拒 · 能改 · 能拦&lt;/Text&gt;&#13;&#10;    &lt;/Box&gt;&#13;&#10;    &lt;Box style={{ height: 520, flexDirection: 'column', gap: 20, paddingTop: 8 }}&gt;&#13;&#10;        &lt;Table&#13;&#10;            style={{ width: '100%', height: 420 }}&#13;&#10;            defaultTextStyle={{ fontSize: 16, color: '#EAF0F8', textAlign: 'left' }}&#13;&#10;            defaultCellStyle={{ border: { bottom: { width: 1, color: 'rgba(123,138,163,0.24)' } }, padding: 14 }}&#13;&#10;            cells={[&#13;&#10;                [&#13;&#10;                    { text: '用例', textStyle: { bold: true, color: '#3370FF', fontSize: 16 }, cellStyle: { background: { color: 'rgba(51,112,255,0.12)' } } },&#13;&#10;                    { text: '验证场景', textStyle: { bold: true, color: '#3370FF', fontSize: 16 }, cellStyle: { background: { color: 'rgba(51,112,255,0.12)' } } },&#13;&#10;                    { text: '实测结果（脚本原样输出）', textStyle: { bold: true, color: '#3370FF', fontSize: 16 }, cellStyle: { background: { color: 'rgba(51,112,255,0.12)' } } }&#13;&#10;                ],&#13;&#10;                [&#13;&#10;                    { text: 'AGT-11', textStyle: { bold: true, fontFamily: &quot;'JetBrains Mono',Consolas,monospace&quot; } },&#13;&#10;                    'R2 工作流停在审批 → 批准后恢复完成',&#13;&#10;                    '首次 next=(approval_gate)；恢复后 final_status=completed；落库 1 次'&#13;&#10;                ],&#13;&#10;                [&#13;&#10;                    { text: 'AGT-12', textStyle: { bold: true, fontFamily: &quot;'JetBrains Mono',Consolas,monospace&quot; } },&#13;&#10;                    '人工拒绝审批',&#13;&#10;                    'final_status=rejected；落库产物 None'&#13;&#10;                ],&#13;&#10;                [&#13;&#10;                    { text: 'AGT-13', textStyle: { bold: true, fontFamily: &quot;'JetBrains Mono',Consolas,monospace&quot; } },&#13;&#10;                    '采纳人工编辑后的版本',&#13;&#10;                    '落库定位 = “人工调整后的商品定位”'&#13;&#10;                ],&#13;&#10;                [&#13;&#10;                    { text: 'AGT-14', textStyle: { bold: true, fontFamily: &quot;'JetBrains Mono',Consolas,monospace&quot; } },&#13;&#10;                    '质检不通过时放行？',&#13;&#10;                    'final_status=quality_failed；落库 0 次'&#13;&#10;                ]&#13;&#10;            ]}&#13;&#10;        /&gt;&#13;&#10;        &lt;Text style={{ fontSize: 16, color: '#7B8AA3' }}&gt;四条合起来构成闭环：停得下来、拒得掉、改得动、拦得住。任何一条不成立，&quot;把 AI 放进生产流程&quot;都不成立。&lt;/Text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12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7909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关键证据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四条实测输出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105900" y="5715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EVIDENCE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能停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能拒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能改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能拦</a:t>
            </a:r>
            <a:endParaRPr/>
          </a:p>
        </p:txBody>
      </p:sp>
      <p:graphicFrame>
        <p:nvGraphicFramePr>
          <p:cNvPr id="84" name=""/>
          <p:cNvGraphicFramePr/>
          <p:nvPr/>
        </p:nvGraphicFramePr>
        <p:xfrm rot="0" flipH="0" flipV="0">
          <a:off x="609600" y="1219200"/>
          <a:ext cx="10972800" cy="4000500"/>
        </p:xfrm>
        <a:graphic>
          <a:graphicData uri="http://schemas.openxmlformats.org/drawingml/2006/table">
            <a:tbl>
              <a:tblGrid>
                <a:gridCol w="773707">
                  <a:extLst>
                    <a:ext uri="{9D8B030D-6E8A-4147-A177-3AD203B41FA5}">
                      <a16:colId val="1"/>
                    </a:ext>
                  </a:extLst>
                </a:gridCol>
                <a:gridCol w="3517525">
                  <a:extLst>
                    <a:ext uri="{9D8B030D-6E8A-4147-A177-3AD203B41FA5}">
                      <a16:colId val="2"/>
                    </a:ext>
                  </a:extLst>
                </a:gridCol>
                <a:gridCol w="668156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370FF"/>
                          </a:solidFill>
                          <a:latin typeface="Microsoft YaHei"/>
                          <a:ea typeface="Microsoft YaHei"/>
                        </a:rPr>
                        <a:t>用例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0FF">
                        <a:alpha val="12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370FF"/>
                          </a:solidFill>
                          <a:latin typeface="Microsoft YaHei"/>
                          <a:ea typeface="Microsoft YaHei"/>
                        </a:rPr>
                        <a:t>验证场景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0FF">
                        <a:alpha val="12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370FF"/>
                          </a:solidFill>
                          <a:latin typeface="Microsoft YaHei"/>
                          <a:ea typeface="Microsoft YaHei"/>
                        </a:rPr>
                        <a:t>实测结果（脚本原样输出）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0FF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R2 工作流停在审批 → 批准后恢复完成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首次 next=(approval_gate)；恢复后 final_status=completed；落库 1 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人工拒绝审批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final_status=rejected；落库产物 None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采纳人工编辑后的版本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落库定位 = “人工调整后的商品定位”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质检不通过时放行？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final_status=quality_failed；落库 0 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54102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四条合起来构成闭环：停得下来、拒得掉、改得动、拦得住。任何一条不成立，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放进生产流程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都不成立。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0B1220', padding: '20px 64px', display: 'flex', flexDirection: 'column' }} notes={`这一页讲安全与合规边界。这块我态度很明确。&#13;&#10;&#13;&#10;第一条，多租户隔离。工作区不是从请求参数里读的，而是从登录用户的成员关系里推出来的。所以改一个数字去看别人数据这条路，在结构上就是堵死的。验收里两条在打这个:路径里的工作区和会话里的不一致，直接返回无权访问;如果上下文里引用了别的租户的商品，返回不可处理的实体。&#13;&#10;&#13;&#10;第二条，权限三档。只读角色连改商品名都做不到。验收里我是把角色临时降成只读，发一个修改请求，拿到拒绝，再把角色恢复，同一个请求就通过了。这说明权限判断是真的在生效，不是前端藏了个按钮。&#13;&#10;&#13;&#10;第三条，密钥脱敏。模型配置的读取接口只返回掩码和&quot;是否已配置&quot;，从来不会把密钥原文吐出来。这一条我在验收里是直接对响应体做断言。&#13;&#10;&#13;&#10;第四条要专门说。电商数据采集有个灰色地带，就是绕过登录、绕过验证码、或者用风控对抗的方式去抓数据。这个项目明确不做。我把授权方式做成了受控枚举:授权对接、官方接口、服务商、手工导出。想走绕登录那条路，接口层面就没有这个选项。&#13;&#10;&#13;&#10;另外，所有破坏性操作都有人工二次确认。左侧那四条，就是这套系统对&quot;数据安全&quot;的回答。`}&gt;&#13;&#10;    &lt;Box style={{ height: 100, flexDirection: 'row', justifyContent: 'space-between', alignItems: 'center', borderBottom: '1px solid rgba(123,138,163,0.24)' }}&gt;&#13;&#10;        &lt;Text style={{ fontSize: 36, fontWeight: 'bold', color: '#EAF0F8' }}&gt;安全与合规边界&lt;/Text&gt;&#13;&#10;        &lt;Text style={{ fontSize: 16, color: '#7B8AA3' }}&gt;BOUNDARY · 结构上成立&lt;/Text&gt;&#13;&#10;    &lt;/Box&gt;&#13;&#10;    &lt;Box style={{ height: 520, flexDirection: 'row', alignItems: 'center', gap: 24 }}&gt;&#13;&#10;        &lt;Box style={{ width: 700, height: 496, flexDirection: 'column', gap: 16 }}&gt;&#13;&#10;            &lt;Box style={{ height: 112, background: 'rgba(255,255,255,0.04)', border: '1px solid rgba(123,138,163,0.24)', borderRadius: 10, padding: 18, flexDirection: 'row', alignItems: 'center', gap: 18 }}&gt;&#13;&#10;                &lt;Text style={{ fontSize: 24, fontWeight: 'bold', color: '#3370FF', width: 56, fontFamily: &quot;'JetBrains Mono',Consolas,monospace&quot; }}&gt;01&lt;/Text&gt;&#13;&#10;                &lt;Box style={{ flex: 1, flexDirection: 'column', gap: 4 }}&gt;&#13;&#10;                    &lt;Text style={{ fontSize: 20, fontWeight: '600', color: '#EAF0F8' }}&gt;多租户从成员关系解析&lt;/Text&gt;&#13;&#10;                    &lt;Text style={{ fontSize: 15, color: '#7B8AA3', lineHeight: 1.5 }}&gt;路径与会话不一致 → 403；跨租户上下文 → 422。改数字看不到别人的数据。&lt;/Text&gt;&#13;&#10;                &lt;/Box&gt;&#13;&#10;            &lt;/Box&gt;&#13;&#10;            &lt;Box style={{ height: 112, background: 'rgba(255,255,255,0.04)', border: '1px solid rgba(123,138,163,0.24)', borderRadius: 10, padding: 18, flexDirection: 'row', alignItems: 'center', gap: 18 }}&gt;&#13;&#10;                &lt;Text style={{ fontSize: 24, fontWeight: 'bold', color: '#3370FF', width: 56, fontFamily: &quot;'JetBrains Mono',Consolas,monospace&quot; }}&gt;02&lt;/Text&gt;&#13;&#10;                &lt;Box style={{ flex: 1, flexDirection: 'column', gap: 4 }}&gt;&#13;&#10;                    &lt;Text style={{ fontSize: 20, fontWeight: '600', color: '#EAF0F8' }}&gt;只读角色真的只读&lt;/Text&gt;&#13;&#10;                    &lt;Text style={{ fontSize: 15, color: '#7B8AA3', lineHeight: 1.5 }}&gt;降级为只读后修改请求被拒；恢复角色后同一请求通过。权限在后端生效，不是前端隐藏按钮。&lt;/Text&gt;&#13;&#10;                &lt;/Box&gt;&#13;&#10;            &lt;/Box&gt;&#13;&#10;            &lt;Box style={{ height: 112, background: 'rgba(255,255,255,0.04)', border: '1px solid rgba(123,138,163,0.24)', borderRadius: 10, padding: 18, flexDirection: 'row', alignItems: 'center', gap: 18 }}&gt;&#13;&#10;                &lt;Text style={{ fontSize: 24, fontWeight: 'bold', color: '#3370FF', width: 56, fontFamily: &quot;'JetBrains Mono',Consolas,monospace&quot; }}&gt;03&lt;/Text&gt;&#13;&#10;                &lt;Box style={{ flex: 1, flexDirection: 'column', gap: 4 }}&gt;&#13;&#10;                    &lt;Text style={{ fontSize: 20, fontWeight: '600', color: '#EAF0F8' }}&gt;供应商密钥只出掩码&lt;/Text&gt;&#13;&#10;                    &lt;Text style={{ fontSize: 15, color: '#7B8AA3', lineHeight: 1.5 }}&gt;模型配置读取接口只返回掩码与&quot;是否已配置&quot;，响应体里不存在密钥原文。&lt;/Text&gt;&#13;&#10;                &lt;/Box&gt;&#13;&#10;            &lt;/Box&gt;&#13;&#10;            &lt;Box style={{ height: 112, background: 'rgba(255,255,255,0.04)', border: '1px solid rgba(123,138,163,0.24)', borderRadius: 10, padding: 18, flexDirection: 'row', alignItems: 'center', gap: 18 }}&gt;&#13;&#10;                &lt;Text style={{ fontSize: 24, fontWeight: 'bold', color: '#3370FF', width: 56, fontFamily: &quot;'JetBrains Mono',Consolas,monospace&quot; }}&gt;04&lt;/Text&gt;&#13;&#10;                &lt;Box style={{ flex: 1, flexDirection: 'column', gap: 4 }}&gt;&#13;&#10;                    &lt;Text style={{ fontSize: 20, fontWeight: '600', color: '#EAF0F8' }}&gt;破坏性操作人工二次确认&lt;/Text&gt;&#13;&#10;                    &lt;Text style={{ fontSize: 15, color: '#7B8AA3', lineHeight: 1.5 }}&gt;删除类动作在界面上二次确认，接口层校验归属与权限，不做静默批量变更。&lt;/Text&gt;&#13;&#10;                &lt;/Box&gt;&#13;&#10;            &lt;/Box&gt;&#13;&#10;        &lt;/Box&gt;&#13;&#10;        &lt;Box style={{ width: 428, height: 496, background: 'rgba(51,112,255,0.12)', border: '1px solid rgba(51,112,255,0.35)', borderRadius: 16, padding: 26, flexDirection: 'column', gap: 16 }}&gt;&#13;&#10;            &lt;Text style={{ fontSize: 16, color: '#3370FF', fontWeight: '600' }}&gt;采集合规声明&lt;/Text&gt;&#13;&#10;            &lt;Text style={{ fontSize: 24, fontWeight: 'bold', color: '#EAF0F8', lineHeight: 1.4 }}&gt;不提供绕过登录、验证码或风控的采集方式&lt;/Text&gt;&#13;&#10;            &lt;Box style={{ height: 1, background: 'rgba(51,112,255,0.35)' }} /&gt;&#13;&#10;            &lt;Text style={{ fontSize: 17, color: '#EAF0F8', lineHeight: 1.7 }}&gt;&#13;&#10;                &lt;&gt;平台账号的授权方式做成受控枚举：&lt;br /&gt;授权对接 / 官方接口 / 服务商 / 手工导出。&lt;br /&gt;&lt;br /&gt;想走绕登录那条路，接口层面就没有这个选项。&lt;br /&gt;&lt;br /&gt;数据来源可追溯，授权状态可登记、可审查。&lt;/&gt;&#13;&#10;            &lt;/Text&gt;&#13;&#10;            &lt;Box style={{ flex: 1 }} /&gt;&#13;&#10;            &lt;Text style={{ fontSize: 15, color: '#7B8AA3' }}&gt;对应验收：SEC-01 ~ SEC-04&lt;/Text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13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安全与合规边界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820275" y="571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BOUNDARY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结构上成立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2573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485900" y="153352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多租户从成员关系解析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485900" y="1800225"/>
            <a:ext cx="5619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路径与会话不一致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→ 403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；跨租户上下文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→ 422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。改数字看不到别人的数据。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24765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1050" y="28765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485900" y="261937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只读角色真的只读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485900" y="2886075"/>
            <a:ext cx="561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降级为只读后修改请求被拒；恢复角色后同一请求通过。权限在后端生效，不是前端隐藏按钮。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36957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81050" y="40957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485900" y="397192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供应商密钥只出掩码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485900" y="4238625"/>
            <a:ext cx="5619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模型配置读取接口只返回掩码与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是否已配置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，响应体里不存在密钥原文。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49149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81050" y="53149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485900" y="519112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破坏性操作人工二次确认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485900" y="5457825"/>
            <a:ext cx="5619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删除类动作在界面上二次确认，接口层校验归属与权限，不做静默批量变更。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05700" y="1257300"/>
            <a:ext cx="4076700" cy="4724400"/>
          </a:xfrm>
          <a:prstGeom prst="roundRect">
            <a:avLst>
              <a:gd name="adj" fmla="val 3738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753350" y="1504950"/>
            <a:ext cx="358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采集合规声明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753350" y="1847850"/>
            <a:ext cx="3581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不提供绕过登录、验证码或风控的采集方式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753350" y="2771775"/>
            <a:ext cx="3581400" cy="9525"/>
          </a:xfrm>
          <a:prstGeom prst="rect">
            <a:avLst/>
          </a:prstGeom>
          <a:solidFill>
            <a:srgbClr val="3370FF">
              <a:alpha val="35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753350" y="2933700"/>
            <a:ext cx="3581400" cy="1990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平台账号的授权方式做成受控枚举：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授权对接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官方接口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服务商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手工导出。</a:t>
            </a:r>
            <a:endParaRPr/>
          </a:p>
          <a:p>
            <a:pPr>
              <a:lnSpc>
                <a:spcPct val="170000"/>
              </a:lnSpc>
            </a:pPr>
            <a:r>
              <a:rPr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想走绕登录那条路，接口层面就没有这个选项。</a:t>
            </a:r>
            <a:endParaRPr/>
          </a:p>
          <a:p>
            <a:pPr>
              <a:lnSpc>
                <a:spcPct val="170000"/>
              </a:lnSpc>
            </a:pPr>
            <a:r>
              <a:rPr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数据来源可追溯，授权状态可登记、可审查。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753350" y="5562600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SEC-01 ~ SEC-04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width: 1280, height: 720, background: '#0B1220', padding: '20px 64px', display: 'flex', flexDirection: 'column', position: 'relative', overflow: 'hidden' }} notes={`最后一页，讲清楚交付边界和后续规划。&#13;&#10;&#13;&#10;先说边界。第一，真实的出图和出片效果，需要商业供应商的密钥和配额，离线验收只能验证功能链路和兜底分支是正确的，素材质量本身必须在配好密钥的环境里补做在线验收。第二，本地开发模式用的是进程内队列，没有后台调度器，所以失败的任务不会自动重排，这个能力需要完整的容器链路。第三，前端是课程提供的现成工作台，我这次没有重写它,只做了设计令牌统一。&#13;&#10;&#13;&#10;再说后续规划，按优先级。第一优先级是后端的健壮性:现在还有一些地方是宽泛捕获异常，可能把真实错误吞掉，需要收窄到具体异常类型并记录日志;还有几处外键缺少级联关系，删除路径上可能留下孤儿记录。第二优先级是前端体验:移动端导航、暗色模式、加载与错误的统一状态，以及客户端表单校验。&#13;&#10;&#13;&#10;最后一句话总结。这个项目最重要的不是它能生成内容，而是它证明了:一个会自己产生副作用的 AI 系统，是可以被约束、被审批、被验收的。&#13;&#10;&#13;&#10;模型负责产出，策略负责边界，人负责决定，系统负责记录和恢复。谢谢各位。`}&gt;&#13;&#10;    &lt;Box style={{ position: 'absolute', bottom: -200, left: -140, width: 620, height: 620, background: 'linear-gradient(135deg, #3370FF 0%, rgba(51,112,255,0) 100%)', opacity: 0.15, borderRadius: 310 }} /&gt;&#13;&#10;    &lt;Box style={{ height: 100, flexDirection: 'row', justifyContent: 'space-between', alignItems: 'center', borderBottom: '1px solid rgba(123,138,163,0.24)' }}&gt;&#13;&#10;        &lt;Text style={{ fontSize: 36, fontWeight: 'bold', color: '#EAF0F8' }}&gt;交付边界与后续规划&lt;/Text&gt;&#13;&#10;        &lt;Text style={{ fontSize: 16, color: '#7B8AA3' }}&gt;BOUNDARY · 边界清晰&lt;/Text&gt;&#13;&#10;    &lt;/Box&gt;&#13;&#10;    &lt;Box style={{ height: 520, flexDirection: 'column', gap: 20, paddingTop: 10 }}&gt;&#13;&#10;        &lt;Box style={{ height: 380, flexDirection: 'row', gap: 20 }}&gt;&#13;&#10;            &lt;Box style={{ flex: 1, background: 'rgba(255,255,255,0.04)', border: '1px solid rgba(123,138,163,0.24)', borderRadius: 12, padding: 22, flexDirection: 'column', gap: 10 }}&gt;&#13;&#10;                &lt;Text style={{ fontSize: 16, color: '#7B8AA3', fontWeight: '600' }}&gt;边界说明&lt;/Text&gt;&#13;&#10;                &lt;Text style={{ fontSize: 22, fontWeight: '600', color: '#EAF0F8' }}&gt;本次交付的边界说明&lt;/Text&gt;&#13;&#10;                &lt;Text style={{ fontSize: 16, color: '#EAF0F8', lineHeight: 1.75 }}&gt;&#13;&#10;                    &lt;&gt;· 真实出图出片需商业密钥与配额，质量需补做在线验收&lt;br /&gt;&lt;br /&gt;· 本地进程内队列无后台调度，失败任务不自动重排&lt;br /&gt;&lt;br /&gt;· 界面沿用既有工作台，本次未重做交互设计，仅统一视觉规范&lt;br /&gt;&lt;br /&gt;· 上述边界均已在验收方案中书面声明，验收时可逐条核对&lt;/&gt;&#13;&#10;                &lt;/Text&gt;&#13;&#10;                &lt;Text style={{ fontSize: 15, color: '#7B8AA3', marginTop: 'auto' }}&gt;对应文档：验收方案 · 已知限制与风险表&lt;/Text&gt;&#13;&#10;            &lt;/Box&gt;&#13;&#10;            &lt;Box style={{ flex: 1, background: 'rgba(51,112,255,0.12)', border: '1px solid rgba(51,112,255,0.35)', borderRadius: 12, padding: 22, flexDirection: 'column', gap: 10 }}&gt;&#13;&#10;                &lt;Text style={{ fontSize: 16, color: '#3370FF', fontWeight: '600' }}&gt;优先级排序&lt;/Text&gt;&#13;&#10;                &lt;Text style={{ fontSize: 22, fontWeight: '600', color: '#EAF0F8' }}&gt;下一步改进计划&lt;/Text&gt;&#13;&#10;                &lt;Text style={{ fontSize: 16, color: '#EAF0F8', lineHeight: 1.75 }}&gt;&#13;&#10;                    &lt;&gt;P1 服务端健壮性&lt;br /&gt;&lt;span style={{ color: '#7B8AA3' }}&gt;收窄宽泛异常捕获并记录日志；补齐外键级联，清理孤儿记录&lt;/span&gt;&lt;br /&gt;&lt;br /&gt;P1 前端体验&lt;br /&gt;&lt;span style={{ color: '#7B8AA3' }}&gt;统一加载与错误态、客户端表单校验、操作反馈&lt;/span&gt;&lt;br /&gt;&lt;br /&gt;P2 移动端与暗色模式&lt;/&gt;&#13;&#10;                &lt;/Text&gt;&#13;&#10;                &lt;Text style={{ fontSize: 15, color: '#7B8AA3', marginTop: 'auto' }}&gt;依据：项目评估结论&lt;/Text&gt;&#13;&#10;            &lt;/Box&gt;&#13;&#10;        &lt;/Box&gt;&#13;&#10;        &lt;Box style={{ height: 110, flexDirection: 'row', alignItems: 'center', gap: 28 }}&gt;&#13;&#10;            &lt;Box style={{ width: 6, height: 80, background: '#3370FF', borderRadius: 3 }} /&gt;&#13;&#10;            &lt;Box style={{ flex: 1, flexDirection: 'column', gap: 8 }}&gt;&#13;&#10;                &lt;Text style={{ fontSize: 28, fontWeight: 'bold', color: '#EAF0F8', lineHeight: 1.35 }}&gt;模型负责产出，策略负责边界，人负责决定，系统负责记录与恢复。&lt;/Text&gt;&#13;&#10;                &lt;Text style={{ fontSize: 18, color: '#7B8AA3' }}&gt;感谢各位领导 · 李奕波 · 欢迎提出意见&lt;/Text&gt;&#13;&#10;            &lt;/Box&gt;&#13;&#10;        &lt;/Box&gt;&#13;&#10;    &lt;/Box&gt;&#13;&#10;    &lt;Box style={{ height: 60, flexDirection: 'row', justifyContent: 'space-between', alignItems: 'center' }}&gt;&#13;&#10;        &lt;Text style={{ fontSize: 14, color: '#7B8AA3' }}&gt;AI 电商运营助手 · 项目验收汇报&lt;/Text&gt;&#13;&#10;        &lt;Text style={{ fontSize: 14, color: '#7B8AA3' }}&gt;14 / 1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交付边界与后续规划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972675" y="571500"/>
            <a:ext cx="160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BOUNDARY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边界清晰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1238250"/>
            <a:ext cx="5391150" cy="3619500"/>
          </a:xfrm>
          <a:prstGeom prst="roundRect">
            <a:avLst>
              <a:gd name="adj" fmla="val 3158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19150" y="1447800"/>
            <a:ext cx="497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B8AA3"/>
                </a:solidFill>
                <a:latin typeface="Microsoft YaHei"/>
                <a:ea typeface="Microsoft YaHei"/>
              </a:rPr>
              <a:t>边界说明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19150" y="173355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本次交付的边界说明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9150" y="2085975"/>
            <a:ext cx="4972050" cy="2247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真实出图出片需商业密钥与配额，质量需补做在线验收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本地进程内队列无后台调度，失败任务不自动重排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界面沿用既有工作台，本次未重做交互设计，仅统一视觉规范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上述边界均已在验收方案中书面声明，验收时可逐条核对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19150" y="4476750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对应文档：验收方案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已知限制与风险表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191250" y="1238250"/>
            <a:ext cx="5391150" cy="3619500"/>
          </a:xfrm>
          <a:prstGeom prst="roundRect">
            <a:avLst>
              <a:gd name="adj" fmla="val 3158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400800" y="1447800"/>
            <a:ext cx="497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优先级排序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00800" y="173355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下一步改进计划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400800" y="2085975"/>
            <a:ext cx="4972050" cy="2247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服务端健壮性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收窄宽泛异常捕获并记录日志；补齐外键级联，清理孤儿记录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前端体验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统一加载与错误态、客户端表单校验、操作反馈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P2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移动端与暗色模式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00800" y="4476750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依据：项目评估结论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5191125"/>
            <a:ext cx="57150" cy="762000"/>
          </a:xfrm>
          <a:prstGeom prst="roundRect">
            <a:avLst>
              <a:gd name="adj" fmla="val 50000"/>
            </a:avLst>
          </a:prstGeom>
          <a:solidFill>
            <a:srgbClr val="3370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33450" y="5210175"/>
            <a:ext cx="10648950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100" b="1">
                <a:solidFill>
                  <a:srgbClr val="EAF0F8"/>
                </a:solidFill>
                <a:latin typeface="Microsoft YaHei"/>
                <a:ea typeface="Microsoft YaHei"/>
              </a:rPr>
              <a:t>模型负责产出，策略负责边界，人负责决定，系统负责记录与恢复。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33450" y="5724525"/>
            <a:ext cx="1064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B8AA3"/>
                </a:solidFill>
                <a:latin typeface="Microsoft YaHei"/>
                <a:ea typeface="Microsoft YaHei"/>
              </a:rPr>
              <a:t>感谢各位领导</a:t>
            </a:r>
            <a:r>
              <a:rPr lang="en-US" sz="13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7B8AA3"/>
                </a:solidFill>
                <a:latin typeface="Microsoft YaHei"/>
                <a:ea typeface="Microsoft YaHei"/>
              </a:rPr>
              <a:t>李奕波</a:t>
            </a:r>
            <a:r>
              <a:rPr lang="en-US" sz="13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7B8AA3"/>
                </a:solidFill>
                <a:latin typeface="Microsoft YaHei"/>
                <a:ea typeface="Microsoft YaHei"/>
              </a:rPr>
              <a:t>欢迎提出意见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项目验收汇报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-1333500" y="2857500"/>
            <a:ext cx="5905500" cy="5905500"/>
          </a:xfrm>
          <a:custGeom>
            <a:pathLst>
              <a:path w="620" h="620">
                <a:moveTo>
                  <a:pt x="318" y="0"/>
                </a:moveTo>
                <a:lnTo>
                  <a:pt x="326" y="0"/>
                </a:lnTo>
                <a:lnTo>
                  <a:pt x="334" y="1"/>
                </a:lnTo>
                <a:lnTo>
                  <a:pt x="342" y="2"/>
                </a:lnTo>
                <a:lnTo>
                  <a:pt x="349" y="2"/>
                </a:lnTo>
                <a:lnTo>
                  <a:pt x="357" y="4"/>
                </a:lnTo>
                <a:lnTo>
                  <a:pt x="365" y="5"/>
                </a:lnTo>
                <a:lnTo>
                  <a:pt x="372" y="6"/>
                </a:lnTo>
                <a:lnTo>
                  <a:pt x="380" y="8"/>
                </a:lnTo>
                <a:lnTo>
                  <a:pt x="387" y="10"/>
                </a:lnTo>
                <a:lnTo>
                  <a:pt x="395" y="12"/>
                </a:lnTo>
                <a:lnTo>
                  <a:pt x="402" y="14"/>
                </a:lnTo>
                <a:lnTo>
                  <a:pt x="409" y="16"/>
                </a:lnTo>
                <a:lnTo>
                  <a:pt x="417" y="19"/>
                </a:lnTo>
                <a:lnTo>
                  <a:pt x="424" y="22"/>
                </a:lnTo>
                <a:lnTo>
                  <a:pt x="431" y="24"/>
                </a:lnTo>
                <a:lnTo>
                  <a:pt x="438" y="27"/>
                </a:lnTo>
                <a:lnTo>
                  <a:pt x="444" y="31"/>
                </a:lnTo>
                <a:lnTo>
                  <a:pt x="451" y="34"/>
                </a:lnTo>
                <a:lnTo>
                  <a:pt x="458" y="37"/>
                </a:lnTo>
                <a:lnTo>
                  <a:pt x="464" y="41"/>
                </a:lnTo>
                <a:lnTo>
                  <a:pt x="471" y="45"/>
                </a:lnTo>
                <a:lnTo>
                  <a:pt x="477" y="49"/>
                </a:lnTo>
                <a:lnTo>
                  <a:pt x="483" y="53"/>
                </a:lnTo>
                <a:lnTo>
                  <a:pt x="489" y="57"/>
                </a:lnTo>
                <a:lnTo>
                  <a:pt x="495" y="62"/>
                </a:lnTo>
                <a:lnTo>
                  <a:pt x="501" y="66"/>
                </a:lnTo>
                <a:lnTo>
                  <a:pt x="507" y="71"/>
                </a:lnTo>
                <a:lnTo>
                  <a:pt x="513" y="76"/>
                </a:lnTo>
                <a:lnTo>
                  <a:pt x="518" y="81"/>
                </a:lnTo>
                <a:lnTo>
                  <a:pt x="524" y="86"/>
                </a:lnTo>
                <a:lnTo>
                  <a:pt x="529" y="91"/>
                </a:lnTo>
                <a:lnTo>
                  <a:pt x="534" y="96"/>
                </a:lnTo>
                <a:lnTo>
                  <a:pt x="539" y="102"/>
                </a:lnTo>
                <a:lnTo>
                  <a:pt x="544" y="107"/>
                </a:lnTo>
                <a:lnTo>
                  <a:pt x="549" y="113"/>
                </a:lnTo>
                <a:lnTo>
                  <a:pt x="554" y="119"/>
                </a:lnTo>
                <a:lnTo>
                  <a:pt x="558" y="125"/>
                </a:lnTo>
                <a:lnTo>
                  <a:pt x="563" y="131"/>
                </a:lnTo>
                <a:lnTo>
                  <a:pt x="567" y="137"/>
                </a:lnTo>
                <a:lnTo>
                  <a:pt x="571" y="143"/>
                </a:lnTo>
                <a:lnTo>
                  <a:pt x="575" y="149"/>
                </a:lnTo>
                <a:lnTo>
                  <a:pt x="579" y="156"/>
                </a:lnTo>
                <a:lnTo>
                  <a:pt x="583" y="162"/>
                </a:lnTo>
                <a:lnTo>
                  <a:pt x="586" y="169"/>
                </a:lnTo>
                <a:lnTo>
                  <a:pt x="589" y="176"/>
                </a:lnTo>
                <a:lnTo>
                  <a:pt x="593" y="182"/>
                </a:lnTo>
                <a:lnTo>
                  <a:pt x="596" y="189"/>
                </a:lnTo>
                <a:lnTo>
                  <a:pt x="598" y="196"/>
                </a:lnTo>
                <a:lnTo>
                  <a:pt x="601" y="203"/>
                </a:lnTo>
                <a:lnTo>
                  <a:pt x="604" y="211"/>
                </a:lnTo>
                <a:lnTo>
                  <a:pt x="606" y="218"/>
                </a:lnTo>
                <a:lnTo>
                  <a:pt x="608" y="225"/>
                </a:lnTo>
                <a:lnTo>
                  <a:pt x="610" y="233"/>
                </a:lnTo>
                <a:lnTo>
                  <a:pt x="612" y="240"/>
                </a:lnTo>
                <a:lnTo>
                  <a:pt x="614" y="248"/>
                </a:lnTo>
                <a:lnTo>
                  <a:pt x="615" y="255"/>
                </a:lnTo>
                <a:lnTo>
                  <a:pt x="616" y="263"/>
                </a:lnTo>
                <a:lnTo>
                  <a:pt x="618" y="271"/>
                </a:lnTo>
                <a:lnTo>
                  <a:pt x="618" y="278"/>
                </a:lnTo>
                <a:lnTo>
                  <a:pt x="619" y="286"/>
                </a:lnTo>
                <a:lnTo>
                  <a:pt x="620" y="294"/>
                </a:lnTo>
                <a:lnTo>
                  <a:pt x="620" y="302"/>
                </a:lnTo>
                <a:lnTo>
                  <a:pt x="620" y="310"/>
                </a:lnTo>
                <a:lnTo>
                  <a:pt x="620" y="318"/>
                </a:lnTo>
                <a:lnTo>
                  <a:pt x="620" y="326"/>
                </a:lnTo>
                <a:lnTo>
                  <a:pt x="619" y="334"/>
                </a:lnTo>
                <a:lnTo>
                  <a:pt x="618" y="342"/>
                </a:lnTo>
                <a:lnTo>
                  <a:pt x="618" y="349"/>
                </a:lnTo>
                <a:lnTo>
                  <a:pt x="616" y="357"/>
                </a:lnTo>
                <a:lnTo>
                  <a:pt x="615" y="365"/>
                </a:lnTo>
                <a:lnTo>
                  <a:pt x="614" y="372"/>
                </a:lnTo>
                <a:lnTo>
                  <a:pt x="612" y="380"/>
                </a:lnTo>
                <a:lnTo>
                  <a:pt x="610" y="387"/>
                </a:lnTo>
                <a:lnTo>
                  <a:pt x="608" y="395"/>
                </a:lnTo>
                <a:lnTo>
                  <a:pt x="606" y="402"/>
                </a:lnTo>
                <a:lnTo>
                  <a:pt x="604" y="409"/>
                </a:lnTo>
                <a:lnTo>
                  <a:pt x="601" y="417"/>
                </a:lnTo>
                <a:lnTo>
                  <a:pt x="600" y="420"/>
                </a:lnTo>
                <a:lnTo>
                  <a:pt x="140" y="420"/>
                </a:lnTo>
                <a:lnTo>
                  <a:pt x="140" y="51"/>
                </a:lnTo>
                <a:lnTo>
                  <a:pt x="143" y="49"/>
                </a:lnTo>
                <a:lnTo>
                  <a:pt x="149" y="45"/>
                </a:lnTo>
                <a:lnTo>
                  <a:pt x="156" y="41"/>
                </a:lnTo>
                <a:lnTo>
                  <a:pt x="162" y="37"/>
                </a:lnTo>
                <a:lnTo>
                  <a:pt x="169" y="34"/>
                </a:lnTo>
                <a:lnTo>
                  <a:pt x="176" y="31"/>
                </a:lnTo>
                <a:lnTo>
                  <a:pt x="182" y="27"/>
                </a:lnTo>
                <a:lnTo>
                  <a:pt x="189" y="24"/>
                </a:lnTo>
                <a:lnTo>
                  <a:pt x="196" y="22"/>
                </a:lnTo>
                <a:lnTo>
                  <a:pt x="203" y="19"/>
                </a:lnTo>
                <a:lnTo>
                  <a:pt x="211" y="16"/>
                </a:lnTo>
                <a:lnTo>
                  <a:pt x="218" y="14"/>
                </a:lnTo>
                <a:lnTo>
                  <a:pt x="225" y="12"/>
                </a:lnTo>
                <a:lnTo>
                  <a:pt x="233" y="10"/>
                </a:lnTo>
                <a:lnTo>
                  <a:pt x="240" y="8"/>
                </a:lnTo>
                <a:lnTo>
                  <a:pt x="248" y="6"/>
                </a:lnTo>
                <a:lnTo>
                  <a:pt x="255" y="5"/>
                </a:lnTo>
                <a:lnTo>
                  <a:pt x="263" y="4"/>
                </a:lnTo>
                <a:lnTo>
                  <a:pt x="271" y="2"/>
                </a:lnTo>
                <a:lnTo>
                  <a:pt x="278" y="2"/>
                </a:lnTo>
                <a:lnTo>
                  <a:pt x="286" y="1"/>
                </a:lnTo>
                <a:lnTo>
                  <a:pt x="294" y="0"/>
                </a:lnTo>
                <a:lnTo>
                  <a:pt x="302" y="0"/>
                </a:lnTo>
                <a:lnTo>
                  <a:pt x="310" y="0"/>
                </a:lnTo>
                <a:close/>
              </a:path>
            </a:pathLst>
          </a:custGeom>
          <a:gradFill>
            <a:gsLst>
              <a:gs pos="0">
                <a:srgbClr val="3370FF">
                  <a:alpha val="15000"/>
                </a:srgbClr>
              </a:gs>
              <a:gs pos="100000">
                <a:srgbClr val="3370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2026-10-07T13:47:44Z</dcterms:created>
  <dcterms:modified xsi:type="dcterms:W3CDTF">2026-10-07T13:47:44Z</dcterms:modified>
</cp:coreProperties>
</file>